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aws-agentcore.svg" ContentType="image/svg+xml"/>
  <Override PartName="/ppt/media/aws-aurora.svg" ContentType="image/svg+xml"/>
  <Override PartName="/ppt/media/aws-bedrock.svg" ContentType="image/svg+xml"/>
  <Override PartName="/ppt/media/aws-cloud.svg" ContentType="image/svg+xml"/>
  <Override PartName="/ppt/media/aws-cloudwatch.svg" ContentType="image/svg+xml"/>
  <Override PartName="/ppt/media/aws-cognito.svg" ContentType="image/svg+xml"/>
  <Override PartName="/ppt/media/aws-ec2.svg" ContentType="image/svg+xml"/>
  <Override PartName="/ppt/media/aws-lambda.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7145000" cy="1066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Pellier governed workshop architecture</a:t>
            </a:r>
          </a:p>
          <a:p/>
          <a:p>
            <a:r>
              <a:t>The participant uses Storefront, Operator, Observatory, and Code Editor. The Pellier backend uses Cognito identity and AgentCore Memory context. The managed shopper dispatcher runs in AgentCore Runtime, calls Gateway with the caller token, and reaches Lambda tools only after AgentCore Policy authorizes the call. Lambda uses RDS Data API to reach Aurora PostgreSQL. Operator investigation runs in its own IAM-authenticated AgentCore Runtime, invoked by the backend after scoped evidence reads; staff confirmation precedes the governed tool call. Observatory correlates service evidence and database records.</a:t>
            </a:r>
          </a:p>
          <a:p/>
          <a:p>
            <a:r>
              <a:t>This is a logical component diagram, not a network topology or a claim of current hosted availability. Memory reads are performed by the Pellier backend before Runtime invocation in the inspected implementation. Lab 3 deploys separate shopper and Operator Runtime endpoints. The latter is IAM authenticated and has no business tools; the backend owns scoped reads, validation, and approval state. Early labs also use the application in-process retrieval path. The managed shopper path uses Lambda and RDS Data API. CloudWatch and database record IDs are correlated by inspection; the dashed line does not imply Aurora automatically exports business rows into CloudWatch. No Step Functions or replacement recovery extension is required by this diagram.</a:t>
            </a:r>
          </a:p>
          <a:p/>
          <a:p>
            <a:r>
              <a:t>Source: AWS-Architecture-Icons-Deck_For-Dark-BG_07312026.pptx. Architecture source anchors and icon hashes accompany this deck in README.md and icon-provenance.json.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Pellier hybrid retrieval flow</a:t>
            </a:r>
          </a:p>
          <a:p/>
          <a:p>
            <a:r>
              <a:t>A shopper request provides query terms and hard constraints. Bedrock Cohere Embed produces the query vector. Aurora applies catalog eligibility predicates to PostgreSQL full-text and pgvector retrieval, then merges ranks using RRF. Bedrock Cohere Rerank reorders the bounded candidate pool. A Strands specialist grounds the response in the returned products and exposes exact evidence. Participants inspect candidate IDs, query plans, and ranking tradeoffs.</a:t>
            </a:r>
          </a:p>
          <a:p/>
          <a:p>
            <a:r>
              <a:t>Logical retrieval stages, not separate services for each SQL operation. Both retrieval branches share eligibility rules. Approximate vector filtering can reduce the candidate set; a later reranker cannot recover omitted candidates. The application and managed Lambda paths share the intended semantics; changes require parity validation. Lab 2 verifies RRF in SQL and changes the live pre-rerank candidate budget. Service icons are copied unchanged from the supplied AWS July 31, 2026 dark background deck.</a:t>
            </a:r>
          </a:p>
          <a:p/>
          <a:p>
            <a:r>
              <a:t>Source: AWS-Architecture-Icons-Deck_For-Dark-BG_07312026.pptx. Architecture source anchors and icon hashes accompany this deck in README.md and icon-provenance.json.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aws-cloud.svg"/><Relationship Id="rId5" Type="http://schemas.openxmlformats.org/officeDocument/2006/relationships/image" Target="../media/image2.png"/><Relationship Id="rId6" Type="http://schemas.openxmlformats.org/officeDocument/2006/relationships/image" Target="../media/aws-cognito.svg"/><Relationship Id="rId7" Type="http://schemas.openxmlformats.org/officeDocument/2006/relationships/image" Target="../media/image3.png"/><Relationship Id="rId8" Type="http://schemas.openxmlformats.org/officeDocument/2006/relationships/image" Target="../media/aws-agentcore.svg"/><Relationship Id="rId9" Type="http://schemas.openxmlformats.org/officeDocument/2006/relationships/image" Target="../media/image4.png"/><Relationship Id="rId10" Type="http://schemas.openxmlformats.org/officeDocument/2006/relationships/image" Target="../media/aws-bedrock.svg"/><Relationship Id="rId11" Type="http://schemas.openxmlformats.org/officeDocument/2006/relationships/image" Target="../media/image5.png"/><Relationship Id="rId12" Type="http://schemas.openxmlformats.org/officeDocument/2006/relationships/image" Target="../media/aws-ec2.svg"/><Relationship Id="rId13" Type="http://schemas.openxmlformats.org/officeDocument/2006/relationships/image" Target="../media/image6.png"/><Relationship Id="rId14" Type="http://schemas.openxmlformats.org/officeDocument/2006/relationships/image" Target="../media/aws-lambda.svg"/><Relationship Id="rId15" Type="http://schemas.openxmlformats.org/officeDocument/2006/relationships/image" Target="../media/image7.png"/><Relationship Id="rId16" Type="http://schemas.openxmlformats.org/officeDocument/2006/relationships/image" Target="../media/aws-aurora.svg"/><Relationship Id="rId17" Type="http://schemas.openxmlformats.org/officeDocument/2006/relationships/image" Target="../media/image8.png"/><Relationship Id="rId18" Type="http://schemas.openxmlformats.org/officeDocument/2006/relationships/image" Target="../media/aws-cloudwatch.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aws-aurora.svg"/><Relationship Id="rId5" Type="http://schemas.openxmlformats.org/officeDocument/2006/relationships/image" Target="../media/image4.png"/><Relationship Id="rId6" Type="http://schemas.openxmlformats.org/officeDocument/2006/relationships/image" Target="../media/aws-bedrock.sv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E2D"/>
        </a:solidFill>
        <a:effectLst/>
      </p:bgPr>
    </p:bg>
    <p:spTree>
      <p:nvGrpSpPr>
        <p:cNvPr id="1" name=""/>
        <p:cNvGrpSpPr/>
        <p:nvPr/>
      </p:nvGrpSpPr>
      <p:grpSpPr/>
      <p:sp>
        <p:nvSpPr>
          <p:cNvPr id="2" name="Rectangle 1"/>
          <p:cNvSpPr/>
          <p:nvPr/>
        </p:nvSpPr>
        <p:spPr>
          <a:xfrm>
            <a:off x="0" y="0"/>
            <a:ext cx="17145000" cy="1066800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llier: governed search from request to evidence"/>
          <p:cNvSpPr txBox="1"/>
          <p:nvPr/>
        </p:nvSpPr>
        <p:spPr>
          <a:xfrm>
            <a:off x="457200" y="265938"/>
            <a:ext cx="7367588" cy="472440"/>
          </a:xfrm>
          <a:prstGeom prst="rect">
            <a:avLst/>
          </a:prstGeom>
          <a:noFill/>
        </p:spPr>
        <p:txBody>
          <a:bodyPr wrap="none" lIns="0" rIns="0" tIns="0" bIns="0">
            <a:spAutoFit/>
          </a:bodyPr>
          <a:lstStyle/>
          <a:p>
            <a:pPr>
              <a:lnSpc>
                <a:spcPct val="100000"/>
              </a:lnSpc>
              <a:spcBef>
                <a:spcPts val="0"/>
              </a:spcBef>
              <a:spcAft>
                <a:spcPts val="0"/>
              </a:spcAft>
            </a:pPr>
            <a:r>
              <a:rPr sz="2400" b="1">
                <a:solidFill>
                  <a:srgbClr val="F3F5F8"/>
                </a:solidFill>
                <a:latin typeface="Arial"/>
              </a:rPr>
              <a:t>Pellier: governed search from request to evidence</a:t>
            </a:r>
          </a:p>
        </p:txBody>
      </p:sp>
      <p:sp>
        <p:nvSpPr>
          <p:cNvPr id="4" name="L400 workshop overview | Managed shopper path and the separate Operator review path"/>
          <p:cNvSpPr txBox="1"/>
          <p:nvPr/>
        </p:nvSpPr>
        <p:spPr>
          <a:xfrm>
            <a:off x="457200" y="725234"/>
            <a:ext cx="7227094" cy="280511"/>
          </a:xfrm>
          <a:prstGeom prst="rect">
            <a:avLst/>
          </a:prstGeom>
          <a:noFill/>
        </p:spPr>
        <p:txBody>
          <a:bodyPr wrap="none" lIns="0" rIns="0" tIns="0" bIns="0">
            <a:spAutoFit/>
          </a:bodyPr>
          <a:lstStyle/>
          <a:p>
            <a:pPr>
              <a:lnSpc>
                <a:spcPct val="100000"/>
              </a:lnSpc>
              <a:spcBef>
                <a:spcPts val="0"/>
              </a:spcBef>
              <a:spcAft>
                <a:spcPts val="0"/>
              </a:spcAft>
            </a:pPr>
            <a:r>
              <a:rPr sz="1425" b="0">
                <a:solidFill>
                  <a:srgbClr val="B5C2D3"/>
                </a:solidFill>
                <a:latin typeface="Arial"/>
              </a:rPr>
              <a:t>L400 workshop overview | Managed shopper path and the separate Operator review path</a:t>
            </a:r>
          </a:p>
        </p:txBody>
      </p:sp>
      <p:sp>
        <p:nvSpPr>
          <p:cNvPr id="5" name="Rectangle 4"/>
          <p:cNvSpPr/>
          <p:nvPr/>
        </p:nvSpPr>
        <p:spPr>
          <a:xfrm>
            <a:off x="2762250" y="1295400"/>
            <a:ext cx="14001750" cy="8267700"/>
          </a:xfrm>
          <a:prstGeom prst="rect">
            <a:avLst/>
          </a:prstGeom>
          <a:solidFill>
            <a:srgbClr val="161E2D"/>
          </a:solidFill>
          <a:ln w="11429">
            <a:solidFill>
              <a:srgbClr val="8F9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loud: original AWS SVG" descr="Unmodified icon from supplied AWS architecture icon deck, July 31, 202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33700" y="1428750"/>
            <a:ext cx="381000" cy="381000"/>
          </a:xfrm>
          <a:prstGeom prst="rect">
            <a:avLst/>
          </a:prstGeom>
        </p:spPr>
      </p:pic>
      <p:sp>
        <p:nvSpPr>
          <p:cNvPr id="7" name="AWS Cloud"/>
          <p:cNvSpPr txBox="1"/>
          <p:nvPr/>
        </p:nvSpPr>
        <p:spPr>
          <a:xfrm>
            <a:off x="3476625" y="1525905"/>
            <a:ext cx="1152376"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AWS Cloud</a:t>
            </a:r>
          </a:p>
        </p:txBody>
      </p:sp>
      <p:sp>
        <p:nvSpPr>
          <p:cNvPr id="8" name="Workshop participant"/>
          <p:cNvSpPr txBox="1"/>
          <p:nvPr/>
        </p:nvSpPr>
        <p:spPr>
          <a:xfrm>
            <a:off x="438150" y="2925508"/>
            <a:ext cx="1964494" cy="280511"/>
          </a:xfrm>
          <a:prstGeom prst="rect">
            <a:avLst/>
          </a:prstGeom>
          <a:noFill/>
        </p:spPr>
        <p:txBody>
          <a:bodyPr wrap="none" lIns="0" rIns="0" tIns="0" bIns="0">
            <a:spAutoFit/>
          </a:bodyPr>
          <a:lstStyle/>
          <a:p>
            <a:pPr>
              <a:lnSpc>
                <a:spcPct val="100000"/>
              </a:lnSpc>
              <a:spcBef>
                <a:spcPts val="0"/>
              </a:spcBef>
              <a:spcAft>
                <a:spcPts val="0"/>
              </a:spcAft>
            </a:pPr>
            <a:r>
              <a:rPr sz="1425" b="1">
                <a:solidFill>
                  <a:srgbClr val="F3F5F8"/>
                </a:solidFill>
                <a:latin typeface="Arial"/>
              </a:rPr>
              <a:t>Workshop participant</a:t>
            </a:r>
          </a:p>
        </p:txBody>
      </p:sp>
      <p:sp>
        <p:nvSpPr>
          <p:cNvPr id="9" name="Rectangle 8"/>
          <p:cNvSpPr/>
          <p:nvPr/>
        </p:nvSpPr>
        <p:spPr>
          <a:xfrm>
            <a:off x="438150" y="3286125"/>
            <a:ext cx="1809750" cy="2905125"/>
          </a:xfrm>
          <a:prstGeom prst="rect">
            <a:avLst/>
          </a:prstGeom>
          <a:solidFill>
            <a:srgbClr val="161E2D"/>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orefront"/>
          <p:cNvSpPr txBox="1"/>
          <p:nvPr/>
        </p:nvSpPr>
        <p:spPr>
          <a:xfrm>
            <a:off x="628650" y="3459480"/>
            <a:ext cx="1038225"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Storefront</a:t>
            </a:r>
          </a:p>
        </p:txBody>
      </p:sp>
      <p:sp>
        <p:nvSpPr>
          <p:cNvPr id="11" name="Ask and browse"/>
          <p:cNvSpPr txBox="1"/>
          <p:nvPr/>
        </p:nvSpPr>
        <p:spPr>
          <a:xfrm>
            <a:off x="628650" y="3761994"/>
            <a:ext cx="1204912"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Ask and browse</a:t>
            </a:r>
          </a:p>
        </p:txBody>
      </p:sp>
      <p:sp>
        <p:nvSpPr>
          <p:cNvPr id="12" name="Operator"/>
          <p:cNvSpPr txBox="1"/>
          <p:nvPr/>
        </p:nvSpPr>
        <p:spPr>
          <a:xfrm>
            <a:off x="628650" y="4173855"/>
            <a:ext cx="921544"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Operator</a:t>
            </a:r>
          </a:p>
        </p:txBody>
      </p:sp>
      <p:sp>
        <p:nvSpPr>
          <p:cNvPr id="13" name="Investigate and review"/>
          <p:cNvSpPr txBox="1"/>
          <p:nvPr/>
        </p:nvSpPr>
        <p:spPr>
          <a:xfrm>
            <a:off x="628650" y="4476369"/>
            <a:ext cx="1640681"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Investigate and review</a:t>
            </a:r>
          </a:p>
        </p:txBody>
      </p:sp>
      <p:sp>
        <p:nvSpPr>
          <p:cNvPr id="14" name="Observatory"/>
          <p:cNvSpPr txBox="1"/>
          <p:nvPr/>
        </p:nvSpPr>
        <p:spPr>
          <a:xfrm>
            <a:off x="628650" y="4888230"/>
            <a:ext cx="1243012"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Observatory</a:t>
            </a:r>
          </a:p>
        </p:txBody>
      </p:sp>
      <p:sp>
        <p:nvSpPr>
          <p:cNvPr id="15" name="Inspect exact evidence"/>
          <p:cNvSpPr txBox="1"/>
          <p:nvPr/>
        </p:nvSpPr>
        <p:spPr>
          <a:xfrm>
            <a:off x="628650" y="5190744"/>
            <a:ext cx="1676400"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Inspect exact evidence</a:t>
            </a:r>
          </a:p>
        </p:txBody>
      </p:sp>
      <p:sp>
        <p:nvSpPr>
          <p:cNvPr id="16" name="Code Editor + SQL"/>
          <p:cNvSpPr txBox="1"/>
          <p:nvPr/>
        </p:nvSpPr>
        <p:spPr>
          <a:xfrm>
            <a:off x="628650" y="5705094"/>
            <a:ext cx="1466850"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Code Editor + SQL</a:t>
            </a:r>
          </a:p>
        </p:txBody>
      </p:sp>
      <p:sp>
        <p:nvSpPr>
          <p:cNvPr id="17" name="Write, deploy, verify"/>
          <p:cNvSpPr txBox="1"/>
          <p:nvPr/>
        </p:nvSpPr>
        <p:spPr>
          <a:xfrm>
            <a:off x="628650" y="5933694"/>
            <a:ext cx="1457102"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Write, deploy, verify</a:t>
            </a:r>
          </a:p>
        </p:txBody>
      </p:sp>
      <p:sp>
        <p:nvSpPr>
          <p:cNvPr id="18" name="Rectangle 17"/>
          <p:cNvSpPr/>
          <p:nvPr/>
        </p:nvSpPr>
        <p:spPr>
          <a:xfrm>
            <a:off x="3238500" y="2143125"/>
            <a:ext cx="2571750" cy="1333500"/>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cognito: original AWS SVG" descr="Unmodified icon from supplied AWS architecture icon deck, July 31, 202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29000" y="2314575"/>
            <a:ext cx="762000" cy="762000"/>
          </a:xfrm>
          <a:prstGeom prst="rect">
            <a:avLst/>
          </a:prstGeom>
        </p:spPr>
      </p:pic>
      <p:sp>
        <p:nvSpPr>
          <p:cNvPr id="20" name="Amazon Cognito"/>
          <p:cNvSpPr txBox="1"/>
          <p:nvPr/>
        </p:nvSpPr>
        <p:spPr>
          <a:xfrm>
            <a:off x="4343400" y="2409444"/>
            <a:ext cx="1323975"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Amazon Cognito</a:t>
            </a:r>
          </a:p>
        </p:txBody>
      </p:sp>
      <p:sp>
        <p:nvSpPr>
          <p:cNvPr id="21" name="Verified shopper or staff identity"/>
          <p:cNvSpPr txBox="1"/>
          <p:nvPr/>
        </p:nvSpPr>
        <p:spPr>
          <a:xfrm>
            <a:off x="3467100" y="3180969"/>
            <a:ext cx="227152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Verified shopper or staff identity</a:t>
            </a:r>
          </a:p>
        </p:txBody>
      </p:sp>
      <p:sp>
        <p:nvSpPr>
          <p:cNvPr id="22" name="Rectangle 21"/>
          <p:cNvSpPr/>
          <p:nvPr/>
        </p:nvSpPr>
        <p:spPr>
          <a:xfrm>
            <a:off x="6667500" y="2143125"/>
            <a:ext cx="2571750" cy="1333500"/>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agentcore: original AWS SVG" descr="Unmodified icon from supplied AWS architecture icon deck, July 31, 202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58000" y="2314575"/>
            <a:ext cx="762000" cy="762000"/>
          </a:xfrm>
          <a:prstGeom prst="rect">
            <a:avLst/>
          </a:prstGeom>
        </p:spPr>
      </p:pic>
      <p:sp>
        <p:nvSpPr>
          <p:cNvPr id="24" name="AgentCore"/>
          <p:cNvSpPr txBox="1"/>
          <p:nvPr/>
        </p:nvSpPr>
        <p:spPr>
          <a:xfrm>
            <a:off x="7772400" y="2409444"/>
            <a:ext cx="892969"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AgentCore</a:t>
            </a:r>
          </a:p>
        </p:txBody>
      </p:sp>
      <p:sp>
        <p:nvSpPr>
          <p:cNvPr id="25" name="Memory"/>
          <p:cNvSpPr txBox="1"/>
          <p:nvPr/>
        </p:nvSpPr>
        <p:spPr>
          <a:xfrm>
            <a:off x="7772400" y="2628519"/>
            <a:ext cx="700088"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Memory</a:t>
            </a:r>
          </a:p>
        </p:txBody>
      </p:sp>
      <p:sp>
        <p:nvSpPr>
          <p:cNvPr id="26" name="Scoped events and preferences"/>
          <p:cNvSpPr txBox="1"/>
          <p:nvPr/>
        </p:nvSpPr>
        <p:spPr>
          <a:xfrm>
            <a:off x="6896100" y="3180969"/>
            <a:ext cx="2283619"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Scoped events and preferences</a:t>
            </a:r>
          </a:p>
        </p:txBody>
      </p:sp>
      <p:sp>
        <p:nvSpPr>
          <p:cNvPr id="27" name="Rectangle 26"/>
          <p:cNvSpPr/>
          <p:nvPr/>
        </p:nvSpPr>
        <p:spPr>
          <a:xfrm>
            <a:off x="11049000" y="2143125"/>
            <a:ext cx="4286250" cy="1333500"/>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bedrock: original AWS SVG" descr="Unmodified icon from supplied AWS architecture icon deck, July 31, 2026."/>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39500" y="2314575"/>
            <a:ext cx="762000" cy="762000"/>
          </a:xfrm>
          <a:prstGeom prst="rect">
            <a:avLst/>
          </a:prstGeom>
        </p:spPr>
      </p:pic>
      <p:sp>
        <p:nvSpPr>
          <p:cNvPr id="29" name="Amazon Bedrock"/>
          <p:cNvSpPr txBox="1"/>
          <p:nvPr/>
        </p:nvSpPr>
        <p:spPr>
          <a:xfrm>
            <a:off x="12153900" y="2409444"/>
            <a:ext cx="1362075"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Amazon Bedrock</a:t>
            </a:r>
          </a:p>
        </p:txBody>
      </p:sp>
      <p:sp>
        <p:nvSpPr>
          <p:cNvPr id="30" name="Model inference, query embeddings, Cohere Rerank"/>
          <p:cNvSpPr txBox="1"/>
          <p:nvPr/>
        </p:nvSpPr>
        <p:spPr>
          <a:xfrm>
            <a:off x="11277600" y="3180969"/>
            <a:ext cx="3676650"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Model inference, query embeddings, Cohere Rerank</a:t>
            </a:r>
          </a:p>
        </p:txBody>
      </p:sp>
      <p:sp>
        <p:nvSpPr>
          <p:cNvPr id="31" name="Rectangle 30"/>
          <p:cNvSpPr/>
          <p:nvPr/>
        </p:nvSpPr>
        <p:spPr>
          <a:xfrm>
            <a:off x="3238500" y="4095750"/>
            <a:ext cx="2571750" cy="2857500"/>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ec2: original AWS SVG" descr="Unmodified icon from supplied AWS architecture icon deck, July 31, 2026."/>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29000" y="4267200"/>
            <a:ext cx="762000" cy="762000"/>
          </a:xfrm>
          <a:prstGeom prst="rect">
            <a:avLst/>
          </a:prstGeom>
        </p:spPr>
      </p:pic>
      <p:sp>
        <p:nvSpPr>
          <p:cNvPr id="33" name="Amazon EC2"/>
          <p:cNvSpPr txBox="1"/>
          <p:nvPr/>
        </p:nvSpPr>
        <p:spPr>
          <a:xfrm>
            <a:off x="4343400" y="4362069"/>
            <a:ext cx="1047750"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Amazon EC2</a:t>
            </a:r>
          </a:p>
        </p:txBody>
      </p:sp>
      <p:sp>
        <p:nvSpPr>
          <p:cNvPr id="34" name="Pellier backend"/>
          <p:cNvSpPr txBox="1"/>
          <p:nvPr/>
        </p:nvSpPr>
        <p:spPr>
          <a:xfrm>
            <a:off x="4343400" y="4581144"/>
            <a:ext cx="1240631"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Pellier backend</a:t>
            </a:r>
          </a:p>
        </p:txBody>
      </p:sp>
      <p:sp>
        <p:nvSpPr>
          <p:cNvPr id="35" name="Serves the three app surfaces"/>
          <p:cNvSpPr txBox="1"/>
          <p:nvPr/>
        </p:nvSpPr>
        <p:spPr>
          <a:xfrm>
            <a:off x="3467100" y="5133594"/>
            <a:ext cx="216217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Serves the three app surfaces</a:t>
            </a:r>
          </a:p>
        </p:txBody>
      </p:sp>
      <p:sp>
        <p:nvSpPr>
          <p:cNvPr id="36" name="Loads scoped Memory context"/>
          <p:cNvSpPr txBox="1"/>
          <p:nvPr/>
        </p:nvSpPr>
        <p:spPr>
          <a:xfrm>
            <a:off x="3467100" y="5352669"/>
            <a:ext cx="220265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Loads scoped Memory context</a:t>
            </a:r>
          </a:p>
        </p:txBody>
      </p:sp>
      <p:sp>
        <p:nvSpPr>
          <p:cNvPr id="37" name="Verifies staff access"/>
          <p:cNvSpPr txBox="1"/>
          <p:nvPr/>
        </p:nvSpPr>
        <p:spPr>
          <a:xfrm>
            <a:off x="3467100" y="5571744"/>
            <a:ext cx="1476189"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Verifies staff access</a:t>
            </a:r>
          </a:p>
        </p:txBody>
      </p:sp>
      <p:sp>
        <p:nvSpPr>
          <p:cNvPr id="38" name="Reads current Aurora evidence"/>
          <p:cNvSpPr txBox="1"/>
          <p:nvPr/>
        </p:nvSpPr>
        <p:spPr>
          <a:xfrm>
            <a:off x="3467100" y="5790819"/>
            <a:ext cx="223584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Reads current Aurora evidence</a:t>
            </a:r>
          </a:p>
        </p:txBody>
      </p:sp>
      <p:sp>
        <p:nvSpPr>
          <p:cNvPr id="39" name="Persists human review"/>
          <p:cNvSpPr txBox="1"/>
          <p:nvPr/>
        </p:nvSpPr>
        <p:spPr>
          <a:xfrm>
            <a:off x="3467100" y="6009894"/>
            <a:ext cx="1652588"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Persists human review</a:t>
            </a:r>
          </a:p>
        </p:txBody>
      </p:sp>
      <p:sp>
        <p:nvSpPr>
          <p:cNvPr id="40" name="Rectangle 39"/>
          <p:cNvSpPr/>
          <p:nvPr/>
        </p:nvSpPr>
        <p:spPr>
          <a:xfrm>
            <a:off x="6667500" y="4095750"/>
            <a:ext cx="2571750" cy="233362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agentcore: original AWS SVG" descr="Unmodified icon from supplied AWS architecture icon deck, July 31, 202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58000" y="4267200"/>
            <a:ext cx="762000" cy="762000"/>
          </a:xfrm>
          <a:prstGeom prst="rect">
            <a:avLst/>
          </a:prstGeom>
        </p:spPr>
      </p:pic>
      <p:sp>
        <p:nvSpPr>
          <p:cNvPr id="42" name="AgentCore Runtime"/>
          <p:cNvSpPr txBox="1"/>
          <p:nvPr/>
        </p:nvSpPr>
        <p:spPr>
          <a:xfrm>
            <a:off x="7772400" y="4362069"/>
            <a:ext cx="1545431"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AgentCore Runtime</a:t>
            </a:r>
          </a:p>
        </p:txBody>
      </p:sp>
      <p:sp>
        <p:nvSpPr>
          <p:cNvPr id="43" name="Shopper"/>
          <p:cNvSpPr txBox="1"/>
          <p:nvPr/>
        </p:nvSpPr>
        <p:spPr>
          <a:xfrm>
            <a:off x="7772400" y="4581144"/>
            <a:ext cx="733425"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Shopper</a:t>
            </a:r>
          </a:p>
        </p:txBody>
      </p:sp>
      <p:sp>
        <p:nvSpPr>
          <p:cNvPr id="44" name="Hosts the managed dispatcher"/>
          <p:cNvSpPr txBox="1"/>
          <p:nvPr/>
        </p:nvSpPr>
        <p:spPr>
          <a:xfrm>
            <a:off x="6896100" y="5133594"/>
            <a:ext cx="2195512"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Hosts the managed dispatcher</a:t>
            </a:r>
          </a:p>
        </p:txBody>
      </p:sp>
      <p:sp>
        <p:nvSpPr>
          <p:cNvPr id="45" name="Strands selects a specialist"/>
          <p:cNvSpPr txBox="1"/>
          <p:nvPr/>
        </p:nvSpPr>
        <p:spPr>
          <a:xfrm>
            <a:off x="6896100" y="5352669"/>
            <a:ext cx="1962150"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Strands selects a specialist</a:t>
            </a:r>
          </a:p>
        </p:txBody>
      </p:sp>
      <p:sp>
        <p:nvSpPr>
          <p:cNvPr id="46" name="Passes the caller identity"/>
          <p:cNvSpPr txBox="1"/>
          <p:nvPr/>
        </p:nvSpPr>
        <p:spPr>
          <a:xfrm>
            <a:off x="6896100" y="5571744"/>
            <a:ext cx="1809750"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Passes the caller identity</a:t>
            </a:r>
          </a:p>
        </p:txBody>
      </p:sp>
      <p:sp>
        <p:nvSpPr>
          <p:cNvPr id="47" name="Uses a bounded tool catalog"/>
          <p:cNvSpPr txBox="1"/>
          <p:nvPr/>
        </p:nvSpPr>
        <p:spPr>
          <a:xfrm>
            <a:off x="6896100" y="5790819"/>
            <a:ext cx="2062162"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Uses a bounded tool catalog</a:t>
            </a:r>
          </a:p>
        </p:txBody>
      </p:sp>
      <p:sp>
        <p:nvSpPr>
          <p:cNvPr id="48" name="Rectangle 47"/>
          <p:cNvSpPr/>
          <p:nvPr/>
        </p:nvSpPr>
        <p:spPr>
          <a:xfrm>
            <a:off x="10096500" y="4095750"/>
            <a:ext cx="2571750" cy="233362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agentcore: original AWS SVG" descr="Unmodified icon from supplied AWS architecture icon deck, July 31, 202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000" y="4267200"/>
            <a:ext cx="762000" cy="762000"/>
          </a:xfrm>
          <a:prstGeom prst="rect">
            <a:avLst/>
          </a:prstGeom>
        </p:spPr>
      </p:pic>
      <p:sp>
        <p:nvSpPr>
          <p:cNvPr id="50" name="AgentCore"/>
          <p:cNvSpPr txBox="1"/>
          <p:nvPr/>
        </p:nvSpPr>
        <p:spPr>
          <a:xfrm>
            <a:off x="11201400" y="4362069"/>
            <a:ext cx="892969"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AgentCore</a:t>
            </a:r>
          </a:p>
        </p:txBody>
      </p:sp>
      <p:sp>
        <p:nvSpPr>
          <p:cNvPr id="51" name="Gateway"/>
          <p:cNvSpPr txBox="1"/>
          <p:nvPr/>
        </p:nvSpPr>
        <p:spPr>
          <a:xfrm>
            <a:off x="11201400" y="4581144"/>
            <a:ext cx="745331"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Gateway</a:t>
            </a:r>
          </a:p>
        </p:txBody>
      </p:sp>
      <p:sp>
        <p:nvSpPr>
          <p:cNvPr id="52" name="Publishes MCP tool contracts"/>
          <p:cNvSpPr txBox="1"/>
          <p:nvPr/>
        </p:nvSpPr>
        <p:spPr>
          <a:xfrm>
            <a:off x="10325100" y="5133594"/>
            <a:ext cx="2114513"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Publishes MCP tool contracts</a:t>
            </a:r>
          </a:p>
        </p:txBody>
      </p:sp>
      <p:sp>
        <p:nvSpPr>
          <p:cNvPr id="53" name="AgentCore Policy evaluates"/>
          <p:cNvSpPr txBox="1"/>
          <p:nvPr/>
        </p:nvSpPr>
        <p:spPr>
          <a:xfrm>
            <a:off x="10325100" y="5352669"/>
            <a:ext cx="1997869"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AgentCore Policy evaluates</a:t>
            </a:r>
          </a:p>
        </p:txBody>
      </p:sp>
      <p:sp>
        <p:nvSpPr>
          <p:cNvPr id="54" name="Cedar before target execution"/>
          <p:cNvSpPr txBox="1"/>
          <p:nvPr/>
        </p:nvSpPr>
        <p:spPr>
          <a:xfrm>
            <a:off x="10325100" y="5571744"/>
            <a:ext cx="214550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Cedar before target execution</a:t>
            </a:r>
          </a:p>
        </p:txBody>
      </p:sp>
      <p:sp>
        <p:nvSpPr>
          <p:cNvPr id="55" name="Denied call stops here"/>
          <p:cNvSpPr txBox="1"/>
          <p:nvPr/>
        </p:nvSpPr>
        <p:spPr>
          <a:xfrm>
            <a:off x="10325100" y="5790819"/>
            <a:ext cx="163115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Denied call stops here</a:t>
            </a:r>
          </a:p>
        </p:txBody>
      </p:sp>
      <p:sp>
        <p:nvSpPr>
          <p:cNvPr id="56" name="Rectangle 55"/>
          <p:cNvSpPr/>
          <p:nvPr/>
        </p:nvSpPr>
        <p:spPr>
          <a:xfrm>
            <a:off x="13525500" y="4095750"/>
            <a:ext cx="2857500" cy="233362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lambda: original AWS SVG" descr="Unmodified icon from supplied AWS architecture icon deck, July 31, 2026."/>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716000" y="4267200"/>
            <a:ext cx="762000" cy="762000"/>
          </a:xfrm>
          <a:prstGeom prst="rect">
            <a:avLst/>
          </a:prstGeom>
        </p:spPr>
      </p:pic>
      <p:sp>
        <p:nvSpPr>
          <p:cNvPr id="58" name="AWS Lambda"/>
          <p:cNvSpPr txBox="1"/>
          <p:nvPr/>
        </p:nvSpPr>
        <p:spPr>
          <a:xfrm>
            <a:off x="14630400" y="4362069"/>
            <a:ext cx="1097607"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AWS Lambda</a:t>
            </a:r>
          </a:p>
        </p:txBody>
      </p:sp>
      <p:sp>
        <p:nvSpPr>
          <p:cNvPr id="59" name="Implements published tools"/>
          <p:cNvSpPr txBox="1"/>
          <p:nvPr/>
        </p:nvSpPr>
        <p:spPr>
          <a:xfrm>
            <a:off x="13754100" y="5133594"/>
            <a:ext cx="197167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Implements published tools</a:t>
            </a:r>
          </a:p>
        </p:txBody>
      </p:sp>
      <p:sp>
        <p:nvSpPr>
          <p:cNvPr id="60" name="Retrieval and business checks"/>
          <p:cNvSpPr txBox="1"/>
          <p:nvPr/>
        </p:nvSpPr>
        <p:spPr>
          <a:xfrm>
            <a:off x="13754100" y="5352669"/>
            <a:ext cx="218360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Retrieval and business checks</a:t>
            </a:r>
          </a:p>
        </p:txBody>
      </p:sp>
      <p:sp>
        <p:nvSpPr>
          <p:cNvPr id="61" name="Calls Aurora through Data API"/>
          <p:cNvSpPr txBox="1"/>
          <p:nvPr/>
        </p:nvSpPr>
        <p:spPr>
          <a:xfrm>
            <a:off x="13754100" y="5571744"/>
            <a:ext cx="217616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Calls Aurora through Data API</a:t>
            </a:r>
          </a:p>
        </p:txBody>
      </p:sp>
      <p:sp>
        <p:nvSpPr>
          <p:cNvPr id="62" name="Records execution evidence"/>
          <p:cNvSpPr txBox="1"/>
          <p:nvPr/>
        </p:nvSpPr>
        <p:spPr>
          <a:xfrm>
            <a:off x="13754100" y="5790819"/>
            <a:ext cx="2040731"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Records execution evidence</a:t>
            </a:r>
          </a:p>
        </p:txBody>
      </p:sp>
      <p:sp>
        <p:nvSpPr>
          <p:cNvPr id="63" name="Rectangle 62"/>
          <p:cNvSpPr/>
          <p:nvPr/>
        </p:nvSpPr>
        <p:spPr>
          <a:xfrm>
            <a:off x="12954000" y="7810500"/>
            <a:ext cx="3429000" cy="157162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aurora: original AWS SVG" descr="Unmodified icon from supplied AWS architecture icon deck, July 31, 2026."/>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144500" y="7981950"/>
            <a:ext cx="762000" cy="762000"/>
          </a:xfrm>
          <a:prstGeom prst="rect">
            <a:avLst/>
          </a:prstGeom>
        </p:spPr>
      </p:pic>
      <p:sp>
        <p:nvSpPr>
          <p:cNvPr id="65" name="Amazon Aurora"/>
          <p:cNvSpPr txBox="1"/>
          <p:nvPr/>
        </p:nvSpPr>
        <p:spPr>
          <a:xfrm>
            <a:off x="14058900" y="8076819"/>
            <a:ext cx="1250082"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Amazon Aurora</a:t>
            </a:r>
          </a:p>
        </p:txBody>
      </p:sp>
      <p:sp>
        <p:nvSpPr>
          <p:cNvPr id="66" name="PostgreSQL"/>
          <p:cNvSpPr txBox="1"/>
          <p:nvPr/>
        </p:nvSpPr>
        <p:spPr>
          <a:xfrm>
            <a:off x="14058900" y="8295894"/>
            <a:ext cx="997744"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PostgreSQL</a:t>
            </a:r>
          </a:p>
        </p:txBody>
      </p:sp>
      <p:sp>
        <p:nvSpPr>
          <p:cNvPr id="67" name="Catalog, inventory, orders, returns"/>
          <p:cNvSpPr txBox="1"/>
          <p:nvPr/>
        </p:nvSpPr>
        <p:spPr>
          <a:xfrm>
            <a:off x="13182600" y="8848344"/>
            <a:ext cx="2431070"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Catalog, inventory, orders, returns</a:t>
            </a:r>
          </a:p>
        </p:txBody>
      </p:sp>
      <p:sp>
        <p:nvSpPr>
          <p:cNvPr id="68" name="JSONB audit ledger | Private DB subnets"/>
          <p:cNvSpPr txBox="1"/>
          <p:nvPr/>
        </p:nvSpPr>
        <p:spPr>
          <a:xfrm>
            <a:off x="13182600" y="9067419"/>
            <a:ext cx="290750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JSONB audit ledger | Private DB subnets</a:t>
            </a:r>
          </a:p>
        </p:txBody>
      </p:sp>
      <p:sp>
        <p:nvSpPr>
          <p:cNvPr id="69" name="Rectangle 68"/>
          <p:cNvSpPr/>
          <p:nvPr/>
        </p:nvSpPr>
        <p:spPr>
          <a:xfrm>
            <a:off x="8286750" y="7810500"/>
            <a:ext cx="3238500" cy="157162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cloudwatch: original AWS SVG" descr="Unmodified icon from supplied AWS architecture icon deck, July 31, 2026."/>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477250" y="7981950"/>
            <a:ext cx="762000" cy="762000"/>
          </a:xfrm>
          <a:prstGeom prst="rect">
            <a:avLst/>
          </a:prstGeom>
        </p:spPr>
      </p:pic>
      <p:sp>
        <p:nvSpPr>
          <p:cNvPr id="71" name="Amazon CloudWatch"/>
          <p:cNvSpPr txBox="1"/>
          <p:nvPr/>
        </p:nvSpPr>
        <p:spPr>
          <a:xfrm>
            <a:off x="9391650" y="8076819"/>
            <a:ext cx="1638226"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Amazon CloudWatch</a:t>
            </a:r>
          </a:p>
        </p:txBody>
      </p:sp>
      <p:sp>
        <p:nvSpPr>
          <p:cNvPr id="72" name="Service traces and policy decisions"/>
          <p:cNvSpPr txBox="1"/>
          <p:nvPr/>
        </p:nvSpPr>
        <p:spPr>
          <a:xfrm>
            <a:off x="8515350" y="8848344"/>
            <a:ext cx="2497931"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Service traces and policy decisions</a:t>
            </a:r>
          </a:p>
        </p:txBody>
      </p:sp>
      <p:sp>
        <p:nvSpPr>
          <p:cNvPr id="73" name="Correlate the request and tool attempt"/>
          <p:cNvSpPr txBox="1"/>
          <p:nvPr/>
        </p:nvSpPr>
        <p:spPr>
          <a:xfrm>
            <a:off x="8515350" y="9067419"/>
            <a:ext cx="2700338"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Correlate the request and tool attempt</a:t>
            </a:r>
          </a:p>
        </p:txBody>
      </p:sp>
      <p:sp>
        <p:nvSpPr>
          <p:cNvPr id="74" name="Rectangle 73"/>
          <p:cNvSpPr/>
          <p:nvPr/>
        </p:nvSpPr>
        <p:spPr>
          <a:xfrm>
            <a:off x="3238500" y="7810500"/>
            <a:ext cx="3238500" cy="157162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agentcore: original AWS SVG" descr="Unmodified icon from supplied AWS architecture icon deck, July 31, 202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29000" y="7981950"/>
            <a:ext cx="762000" cy="762000"/>
          </a:xfrm>
          <a:prstGeom prst="rect">
            <a:avLst/>
          </a:prstGeom>
        </p:spPr>
      </p:pic>
      <p:sp>
        <p:nvSpPr>
          <p:cNvPr id="76" name="AgentCore Runtime"/>
          <p:cNvSpPr txBox="1"/>
          <p:nvPr/>
        </p:nvSpPr>
        <p:spPr>
          <a:xfrm>
            <a:off x="4343400" y="8076819"/>
            <a:ext cx="1545431"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AgentCore Runtime</a:t>
            </a:r>
          </a:p>
        </p:txBody>
      </p:sp>
      <p:sp>
        <p:nvSpPr>
          <p:cNvPr id="77" name="Operator"/>
          <p:cNvSpPr txBox="1"/>
          <p:nvPr/>
        </p:nvSpPr>
        <p:spPr>
          <a:xfrm>
            <a:off x="4343400" y="8295894"/>
            <a:ext cx="759619"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Operator</a:t>
            </a:r>
          </a:p>
        </p:txBody>
      </p:sp>
      <p:sp>
        <p:nvSpPr>
          <p:cNvPr id="78" name="Case Investigator → Resolution Planner"/>
          <p:cNvSpPr txBox="1"/>
          <p:nvPr/>
        </p:nvSpPr>
        <p:spPr>
          <a:xfrm>
            <a:off x="3467100" y="8848344"/>
            <a:ext cx="2840831"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Case Investigator → Resolution Planner</a:t>
            </a:r>
          </a:p>
        </p:txBody>
      </p:sp>
      <p:sp>
        <p:nvSpPr>
          <p:cNvPr id="79" name="Read-only graph; returns for human review"/>
          <p:cNvSpPr txBox="1"/>
          <p:nvPr/>
        </p:nvSpPr>
        <p:spPr>
          <a:xfrm>
            <a:off x="3467100" y="9067419"/>
            <a:ext cx="3026569"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Read-only graph; returns for human review</a:t>
            </a:r>
          </a:p>
        </p:txBody>
      </p:sp>
      <p:cxnSp>
        <p:nvCxnSpPr>
          <p:cNvPr id="80" name="Connector 79"/>
          <p:cNvCxnSpPr/>
          <p:nvPr/>
        </p:nvCxnSpPr>
        <p:spPr>
          <a:xfrm>
            <a:off x="2247900" y="4714875"/>
            <a:ext cx="990600"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2371725" y="4429125"/>
            <a:ext cx="48577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HTTPS"/>
          <p:cNvSpPr txBox="1"/>
          <p:nvPr/>
        </p:nvSpPr>
        <p:spPr>
          <a:xfrm>
            <a:off x="2419350" y="4447222"/>
            <a:ext cx="583406"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HTTPS</a:t>
            </a:r>
          </a:p>
        </p:txBody>
      </p:sp>
      <p:cxnSp>
        <p:nvCxnSpPr>
          <p:cNvPr id="83" name="Connector 82"/>
          <p:cNvCxnSpPr/>
          <p:nvPr/>
        </p:nvCxnSpPr>
        <p:spPr>
          <a:xfrm>
            <a:off x="5810250" y="5143500"/>
            <a:ext cx="857250"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5905500" y="4857750"/>
            <a:ext cx="563880"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Invoke"/>
          <p:cNvSpPr txBox="1"/>
          <p:nvPr/>
        </p:nvSpPr>
        <p:spPr>
          <a:xfrm>
            <a:off x="5953125" y="4875848"/>
            <a:ext cx="533400"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Invoke</a:t>
            </a:r>
          </a:p>
        </p:txBody>
      </p:sp>
      <p:cxnSp>
        <p:nvCxnSpPr>
          <p:cNvPr id="86" name="Connector 85"/>
          <p:cNvCxnSpPr/>
          <p:nvPr/>
        </p:nvCxnSpPr>
        <p:spPr>
          <a:xfrm>
            <a:off x="9239250" y="5143500"/>
            <a:ext cx="857250"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9296400" y="4857750"/>
            <a:ext cx="79819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MCP + JWT"/>
          <p:cNvSpPr txBox="1"/>
          <p:nvPr/>
        </p:nvSpPr>
        <p:spPr>
          <a:xfrm>
            <a:off x="9344025" y="4875848"/>
            <a:ext cx="890550"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MCP + JWT</a:t>
            </a:r>
          </a:p>
        </p:txBody>
      </p:sp>
      <p:cxnSp>
        <p:nvCxnSpPr>
          <p:cNvPr id="89" name="Connector 88"/>
          <p:cNvCxnSpPr/>
          <p:nvPr/>
        </p:nvCxnSpPr>
        <p:spPr>
          <a:xfrm>
            <a:off x="12668250" y="5143500"/>
            <a:ext cx="857250"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2868275" y="4857750"/>
            <a:ext cx="48577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LLOW"/>
          <p:cNvSpPr txBox="1"/>
          <p:nvPr/>
        </p:nvSpPr>
        <p:spPr>
          <a:xfrm>
            <a:off x="12915900" y="4875848"/>
            <a:ext cx="614362"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ALLOW</a:t>
            </a:r>
          </a:p>
        </p:txBody>
      </p:sp>
      <p:cxnSp>
        <p:nvCxnSpPr>
          <p:cNvPr id="92" name="Connector 91"/>
          <p:cNvCxnSpPr/>
          <p:nvPr/>
        </p:nvCxnSpPr>
        <p:spPr>
          <a:xfrm>
            <a:off x="4524375" y="3476625"/>
            <a:ext cx="0" cy="619125"/>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4572000" y="3705225"/>
            <a:ext cx="32956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JWT"/>
          <p:cNvSpPr txBox="1"/>
          <p:nvPr/>
        </p:nvSpPr>
        <p:spPr>
          <a:xfrm>
            <a:off x="4619625" y="3723322"/>
            <a:ext cx="409575"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JWT</a:t>
            </a:r>
          </a:p>
        </p:txBody>
      </p:sp>
      <p:cxnSp>
        <p:nvCxnSpPr>
          <p:cNvPr id="95" name="Connector 94"/>
          <p:cNvCxnSpPr/>
          <p:nvPr/>
        </p:nvCxnSpPr>
        <p:spPr>
          <a:xfrm flipV="1">
            <a:off x="5476875" y="3762375"/>
            <a:ext cx="0" cy="333375"/>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6875" y="3762375"/>
            <a:ext cx="2476500" cy="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7953375" y="3476625"/>
            <a:ext cx="0" cy="28575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5800725" y="3524250"/>
            <a:ext cx="64198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xt"/>
          <p:cNvSpPr txBox="1"/>
          <p:nvPr/>
        </p:nvSpPr>
        <p:spPr>
          <a:xfrm>
            <a:off x="5848350" y="3542348"/>
            <a:ext cx="604838"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Context</a:t>
            </a:r>
          </a:p>
        </p:txBody>
      </p:sp>
      <p:cxnSp>
        <p:nvCxnSpPr>
          <p:cNvPr id="100" name="Connector 99"/>
          <p:cNvCxnSpPr/>
          <p:nvPr/>
        </p:nvCxnSpPr>
        <p:spPr>
          <a:xfrm flipV="1">
            <a:off x="8572500" y="3714750"/>
            <a:ext cx="0" cy="38100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572500" y="3714750"/>
            <a:ext cx="1905000" cy="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477500" y="2857500"/>
            <a:ext cx="0" cy="85725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477500" y="2857500"/>
            <a:ext cx="571500"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9239250" y="3476625"/>
            <a:ext cx="79819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Inference"/>
          <p:cNvSpPr txBox="1"/>
          <p:nvPr/>
        </p:nvSpPr>
        <p:spPr>
          <a:xfrm>
            <a:off x="9286875" y="3494722"/>
            <a:ext cx="707231"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Inference</a:t>
            </a:r>
          </a:p>
        </p:txBody>
      </p:sp>
      <p:cxnSp>
        <p:nvCxnSpPr>
          <p:cNvPr id="106" name="Connector 105"/>
          <p:cNvCxnSpPr/>
          <p:nvPr/>
        </p:nvCxnSpPr>
        <p:spPr>
          <a:xfrm flipV="1">
            <a:off x="14954250" y="3476625"/>
            <a:ext cx="0" cy="619125"/>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5001875" y="3733800"/>
            <a:ext cx="95440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Model calls"/>
          <p:cNvSpPr txBox="1"/>
          <p:nvPr/>
        </p:nvSpPr>
        <p:spPr>
          <a:xfrm>
            <a:off x="15049500" y="3751898"/>
            <a:ext cx="823912"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Model calls</a:t>
            </a:r>
          </a:p>
        </p:txBody>
      </p:sp>
      <p:cxnSp>
        <p:nvCxnSpPr>
          <p:cNvPr id="109" name="Connector 108"/>
          <p:cNvCxnSpPr/>
          <p:nvPr/>
        </p:nvCxnSpPr>
        <p:spPr>
          <a:xfrm>
            <a:off x="14954250" y="6429375"/>
            <a:ext cx="0" cy="1381125"/>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15001875" y="6981825"/>
            <a:ext cx="1032510"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DS Data API"/>
          <p:cNvSpPr txBox="1"/>
          <p:nvPr/>
        </p:nvSpPr>
        <p:spPr>
          <a:xfrm>
            <a:off x="15049500" y="6999922"/>
            <a:ext cx="1026207"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RDS Data API</a:t>
            </a:r>
          </a:p>
        </p:txBody>
      </p:sp>
      <p:cxnSp>
        <p:nvCxnSpPr>
          <p:cNvPr id="112" name="Connector 111"/>
          <p:cNvCxnSpPr/>
          <p:nvPr/>
        </p:nvCxnSpPr>
        <p:spPr>
          <a:xfrm>
            <a:off x="5810250" y="6667500"/>
            <a:ext cx="6524625" cy="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2334875" y="6667500"/>
            <a:ext cx="0" cy="171450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2334875" y="8382000"/>
            <a:ext cx="619125"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8877300" y="6429375"/>
            <a:ext cx="1344930"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ostgreSQL reads"/>
          <p:cNvSpPr txBox="1"/>
          <p:nvPr/>
        </p:nvSpPr>
        <p:spPr>
          <a:xfrm>
            <a:off x="8924925" y="6447472"/>
            <a:ext cx="1285801"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PostgreSQL reads</a:t>
            </a:r>
          </a:p>
        </p:txBody>
      </p:sp>
      <p:cxnSp>
        <p:nvCxnSpPr>
          <p:cNvPr id="117" name="Connector 116"/>
          <p:cNvCxnSpPr/>
          <p:nvPr/>
        </p:nvCxnSpPr>
        <p:spPr>
          <a:xfrm>
            <a:off x="4524375" y="6953250"/>
            <a:ext cx="0" cy="85725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4572000" y="7448550"/>
            <a:ext cx="173545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IAM + scoped evidence"/>
          <p:cNvSpPr txBox="1"/>
          <p:nvPr/>
        </p:nvSpPr>
        <p:spPr>
          <a:xfrm>
            <a:off x="4619625" y="7466648"/>
            <a:ext cx="1597819"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IAM + scoped evidence</a:t>
            </a:r>
          </a:p>
        </p:txBody>
      </p:sp>
      <p:cxnSp>
        <p:nvCxnSpPr>
          <p:cNvPr id="120" name="Connector 119"/>
          <p:cNvCxnSpPr/>
          <p:nvPr/>
        </p:nvCxnSpPr>
        <p:spPr>
          <a:xfrm>
            <a:off x="5810250" y="6905625"/>
            <a:ext cx="5953125" cy="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763375" y="6429375"/>
            <a:ext cx="0" cy="47625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6905625" y="7010400"/>
            <a:ext cx="3375660"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fter human approval: staff JWT to Gateway"/>
          <p:cNvSpPr txBox="1"/>
          <p:nvPr/>
        </p:nvSpPr>
        <p:spPr>
          <a:xfrm>
            <a:off x="6953250" y="7028498"/>
            <a:ext cx="2924101"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After human approval: staff JWT to Gateway</a:t>
            </a:r>
          </a:p>
        </p:txBody>
      </p:sp>
      <p:cxnSp>
        <p:nvCxnSpPr>
          <p:cNvPr id="124" name="Connector 123"/>
          <p:cNvCxnSpPr/>
          <p:nvPr/>
        </p:nvCxnSpPr>
        <p:spPr>
          <a:xfrm>
            <a:off x="7953375" y="6429375"/>
            <a:ext cx="0" cy="1304925"/>
          </a:xfrm>
          <a:prstGeom prst="line">
            <a:avLst/>
          </a:prstGeom>
          <a:ln w="17145">
            <a:solidFill>
              <a:srgbClr val="D1D9E4"/>
            </a:solidFill>
            <a:prstDash val="dash"/>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953375" y="7734300"/>
            <a:ext cx="1714500" cy="0"/>
          </a:xfrm>
          <a:prstGeom prst="line">
            <a:avLst/>
          </a:prstGeom>
          <a:ln w="17145">
            <a:solidFill>
              <a:srgbClr val="D1D9E4"/>
            </a:solidFill>
            <a:prstDash val="dash"/>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9667875" y="7734300"/>
            <a:ext cx="0" cy="76200"/>
          </a:xfrm>
          <a:prstGeom prst="line">
            <a:avLst/>
          </a:prstGeom>
          <a:ln w="17145">
            <a:solidFill>
              <a:srgbClr val="D1D9E4"/>
            </a:solidFill>
            <a:prstDash val="dash"/>
            <a:tailEnd type="arrow" w="med" len="med"/>
          </a:ln>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8001000" y="7496175"/>
            <a:ext cx="204787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orrelated service traces"/>
          <p:cNvSpPr txBox="1"/>
          <p:nvPr/>
        </p:nvSpPr>
        <p:spPr>
          <a:xfrm>
            <a:off x="8048625" y="7514272"/>
            <a:ext cx="1695450"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Correlated service traces</a:t>
            </a:r>
          </a:p>
        </p:txBody>
      </p:sp>
      <p:cxnSp>
        <p:nvCxnSpPr>
          <p:cNvPr id="129" name="Connector 128"/>
          <p:cNvCxnSpPr/>
          <p:nvPr/>
        </p:nvCxnSpPr>
        <p:spPr>
          <a:xfrm flipH="1">
            <a:off x="11525250" y="8810625"/>
            <a:ext cx="1428750" cy="0"/>
          </a:xfrm>
          <a:prstGeom prst="line">
            <a:avLst/>
          </a:prstGeom>
          <a:ln w="17145">
            <a:solidFill>
              <a:srgbClr val="D1D9E4"/>
            </a:solidFill>
            <a:prstDash val="dash"/>
          </a:ln>
        </p:spPr>
        <p:style>
          <a:lnRef idx="2">
            <a:schemeClr val="accent1"/>
          </a:lnRef>
          <a:fillRef idx="0">
            <a:schemeClr val="accent1"/>
          </a:fillRef>
          <a:effectRef idx="1">
            <a:schemeClr val="accent1"/>
          </a:effectRef>
          <a:fontRef idx="minor">
            <a:schemeClr val="tx1"/>
          </a:fontRef>
        </p:style>
      </p:cxnSp>
      <p:sp>
        <p:nvSpPr>
          <p:cNvPr id="130" name="Rectangle 129"/>
          <p:cNvSpPr/>
          <p:nvPr/>
        </p:nvSpPr>
        <p:spPr>
          <a:xfrm>
            <a:off x="11620500" y="8562975"/>
            <a:ext cx="111061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orrelate IDs"/>
          <p:cNvSpPr txBox="1"/>
          <p:nvPr/>
        </p:nvSpPr>
        <p:spPr>
          <a:xfrm>
            <a:off x="11668125" y="8581072"/>
            <a:ext cx="952500"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Correlate IDs</a:t>
            </a:r>
          </a:p>
        </p:txBody>
      </p:sp>
      <p:sp>
        <p:nvSpPr>
          <p:cNvPr id="132" name="Context informs the answer. Policy authorizes the tool. Aurora establishes business truth."/>
          <p:cNvSpPr txBox="1"/>
          <p:nvPr/>
        </p:nvSpPr>
        <p:spPr>
          <a:xfrm>
            <a:off x="457200" y="9776270"/>
            <a:ext cx="9512796" cy="339566"/>
          </a:xfrm>
          <a:prstGeom prst="rect">
            <a:avLst/>
          </a:prstGeom>
          <a:noFill/>
        </p:spPr>
        <p:txBody>
          <a:bodyPr wrap="none" lIns="0" rIns="0" tIns="0" bIns="0">
            <a:spAutoFit/>
          </a:bodyPr>
          <a:lstStyle/>
          <a:p>
            <a:pPr>
              <a:lnSpc>
                <a:spcPct val="100000"/>
              </a:lnSpc>
              <a:spcBef>
                <a:spcPts val="0"/>
              </a:spcBef>
              <a:spcAft>
                <a:spcPts val="0"/>
              </a:spcAft>
            </a:pPr>
            <a:r>
              <a:rPr sz="1725" b="1">
                <a:solidFill>
                  <a:srgbClr val="F3F5F8"/>
                </a:solidFill>
                <a:latin typeface="Arial"/>
              </a:rPr>
              <a:t>Context informs the answer. Policy authorizes the tool. Aurora establishes business truth.</a:t>
            </a:r>
          </a:p>
        </p:txBody>
      </p:sp>
      <p:sp>
        <p:nvSpPr>
          <p:cNvPr id="133" name="Logical component view. Solid arrows: requests and data access. Dashed arrows: evidence correlation."/>
          <p:cNvSpPr txBox="1"/>
          <p:nvPr/>
        </p:nvSpPr>
        <p:spPr>
          <a:xfrm>
            <a:off x="457200" y="10191369"/>
            <a:ext cx="9898707"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Logical component view. Solid arrows: requests and data access. Dashed arrows: evidence correlation. Responses and hosting ingress omitted.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61E2D"/>
        </a:solidFill>
        <a:effectLst/>
      </p:bgPr>
    </p:bg>
    <p:spTree>
      <p:nvGrpSpPr>
        <p:cNvPr id="1" name=""/>
        <p:cNvGrpSpPr/>
        <p:nvPr/>
      </p:nvGrpSpPr>
      <p:grpSpPr/>
      <p:sp>
        <p:nvSpPr>
          <p:cNvPr id="2" name="Rectangle 1"/>
          <p:cNvSpPr/>
          <p:nvPr/>
        </p:nvSpPr>
        <p:spPr>
          <a:xfrm>
            <a:off x="0" y="0"/>
            <a:ext cx="17145000" cy="1066800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llier: how a hybrid search result is produced"/>
          <p:cNvSpPr txBox="1"/>
          <p:nvPr/>
        </p:nvSpPr>
        <p:spPr>
          <a:xfrm>
            <a:off x="457200" y="265938"/>
            <a:ext cx="6896100" cy="472440"/>
          </a:xfrm>
          <a:prstGeom prst="rect">
            <a:avLst/>
          </a:prstGeom>
          <a:noFill/>
        </p:spPr>
        <p:txBody>
          <a:bodyPr wrap="none" lIns="0" rIns="0" tIns="0" bIns="0">
            <a:spAutoFit/>
          </a:bodyPr>
          <a:lstStyle/>
          <a:p>
            <a:pPr>
              <a:lnSpc>
                <a:spcPct val="100000"/>
              </a:lnSpc>
              <a:spcBef>
                <a:spcPts val="0"/>
              </a:spcBef>
              <a:spcAft>
                <a:spcPts val="0"/>
              </a:spcAft>
            </a:pPr>
            <a:r>
              <a:rPr sz="2400" b="1">
                <a:solidFill>
                  <a:srgbClr val="F3F5F8"/>
                </a:solidFill>
                <a:latin typeface="Arial"/>
              </a:rPr>
              <a:t>Pellier: how a hybrid search result is produced</a:t>
            </a:r>
          </a:p>
        </p:txBody>
      </p:sp>
      <p:sp>
        <p:nvSpPr>
          <p:cNvPr id="4" name="Anna’s retrieval path | The same ranking stages are implemented in the backend and the managed Lambd"/>
          <p:cNvSpPr txBox="1"/>
          <p:nvPr/>
        </p:nvSpPr>
        <p:spPr>
          <a:xfrm>
            <a:off x="457200" y="725234"/>
            <a:ext cx="9120113" cy="280511"/>
          </a:xfrm>
          <a:prstGeom prst="rect">
            <a:avLst/>
          </a:prstGeom>
          <a:noFill/>
        </p:spPr>
        <p:txBody>
          <a:bodyPr wrap="none" lIns="0" rIns="0" tIns="0" bIns="0">
            <a:spAutoFit/>
          </a:bodyPr>
          <a:lstStyle/>
          <a:p>
            <a:pPr>
              <a:lnSpc>
                <a:spcPct val="100000"/>
              </a:lnSpc>
              <a:spcBef>
                <a:spcPts val="0"/>
              </a:spcBef>
              <a:spcAft>
                <a:spcPts val="0"/>
              </a:spcAft>
            </a:pPr>
            <a:r>
              <a:rPr sz="1425" b="0">
                <a:solidFill>
                  <a:srgbClr val="B5C2D3"/>
                </a:solidFill>
                <a:latin typeface="Arial"/>
              </a:rPr>
              <a:t>Anna’s retrieval path | The same ranking stages are implemented in the backend and the managed Lambda tools</a:t>
            </a:r>
          </a:p>
        </p:txBody>
      </p:sp>
      <p:sp>
        <p:nvSpPr>
          <p:cNvPr id="5" name="Rectangle 4"/>
          <p:cNvSpPr/>
          <p:nvPr/>
        </p:nvSpPr>
        <p:spPr>
          <a:xfrm>
            <a:off x="6286500" y="1428750"/>
            <a:ext cx="6667500" cy="5048250"/>
          </a:xfrm>
          <a:prstGeom prst="rect">
            <a:avLst/>
          </a:prstGeom>
          <a:solidFill>
            <a:srgbClr val="161E2D"/>
          </a:solidFill>
          <a:ln w="11429">
            <a:solidFill>
              <a:srgbClr val="A29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aurora: original AWS SVG" descr="Unmodified icon from supplied AWS architecture icon deck, July 31, 202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96050" y="1609725"/>
            <a:ext cx="762000" cy="762000"/>
          </a:xfrm>
          <a:prstGeom prst="rect">
            <a:avLst/>
          </a:prstGeom>
        </p:spPr>
      </p:pic>
      <p:sp>
        <p:nvSpPr>
          <p:cNvPr id="7" name="Amazon Aurora PostgreSQL"/>
          <p:cNvSpPr txBox="1"/>
          <p:nvPr/>
        </p:nvSpPr>
        <p:spPr>
          <a:xfrm>
            <a:off x="7562850" y="1744980"/>
            <a:ext cx="2690701"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Amazon Aurora PostgreSQL</a:t>
            </a:r>
          </a:p>
        </p:txBody>
      </p:sp>
      <p:sp>
        <p:nvSpPr>
          <p:cNvPr id="8" name="Candidate retrieval and rank fusion"/>
          <p:cNvSpPr txBox="1"/>
          <p:nvPr/>
        </p:nvSpPr>
        <p:spPr>
          <a:xfrm>
            <a:off x="7562850" y="2048066"/>
            <a:ext cx="2636044" cy="250984"/>
          </a:xfrm>
          <a:prstGeom prst="rect">
            <a:avLst/>
          </a:prstGeom>
          <a:noFill/>
        </p:spPr>
        <p:txBody>
          <a:bodyPr wrap="none" lIns="0" rIns="0" tIns="0" bIns="0">
            <a:spAutoFit/>
          </a:bodyPr>
          <a:lstStyle/>
          <a:p>
            <a:pPr>
              <a:lnSpc>
                <a:spcPct val="100000"/>
              </a:lnSpc>
              <a:spcBef>
                <a:spcPts val="0"/>
              </a:spcBef>
              <a:spcAft>
                <a:spcPts val="0"/>
              </a:spcAft>
            </a:pPr>
            <a:r>
              <a:rPr sz="1275" b="0">
                <a:solidFill>
                  <a:srgbClr val="B5C2D3"/>
                </a:solidFill>
                <a:latin typeface="Arial"/>
              </a:rPr>
              <a:t>Candidate retrieval and rank fusion</a:t>
            </a:r>
          </a:p>
        </p:txBody>
      </p:sp>
      <p:sp>
        <p:nvSpPr>
          <p:cNvPr id="9" name="Rectangle 8"/>
          <p:cNvSpPr/>
          <p:nvPr/>
        </p:nvSpPr>
        <p:spPr>
          <a:xfrm>
            <a:off x="6591300" y="2647950"/>
            <a:ext cx="6057900" cy="400050"/>
          </a:xfrm>
          <a:prstGeom prst="rect">
            <a:avLst/>
          </a:prstGeom>
          <a:solidFill>
            <a:srgbClr val="1D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pply catalog, price, stock, and archive constraints in both branches"/>
          <p:cNvSpPr txBox="1"/>
          <p:nvPr/>
        </p:nvSpPr>
        <p:spPr>
          <a:xfrm>
            <a:off x="6772275" y="2761869"/>
            <a:ext cx="5133975"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Apply catalog, price, stock, and archive constraints in both branches</a:t>
            </a:r>
          </a:p>
        </p:txBody>
      </p:sp>
      <p:sp>
        <p:nvSpPr>
          <p:cNvPr id="11" name="Rectangle 10"/>
          <p:cNvSpPr/>
          <p:nvPr/>
        </p:nvSpPr>
        <p:spPr>
          <a:xfrm>
            <a:off x="457200" y="3486150"/>
            <a:ext cx="2381250" cy="1676400"/>
          </a:xfrm>
          <a:prstGeom prst="rect">
            <a:avLst/>
          </a:prstGeom>
          <a:solidFill>
            <a:srgbClr val="161E2D"/>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opper request"/>
          <p:cNvSpPr txBox="1"/>
          <p:nvPr/>
        </p:nvSpPr>
        <p:spPr>
          <a:xfrm>
            <a:off x="657225" y="3678555"/>
            <a:ext cx="1633538"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Shopper request</a:t>
            </a:r>
          </a:p>
        </p:txBody>
      </p:sp>
      <p:sp>
        <p:nvSpPr>
          <p:cNvPr id="13" name="Intent and hard constraints"/>
          <p:cNvSpPr txBox="1"/>
          <p:nvPr/>
        </p:nvSpPr>
        <p:spPr>
          <a:xfrm>
            <a:off x="657225" y="4066794"/>
            <a:ext cx="193357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Intent and hard constraints</a:t>
            </a:r>
          </a:p>
        </p:txBody>
      </p:sp>
      <p:sp>
        <p:nvSpPr>
          <p:cNvPr id="14" name="Keep current database facts"/>
          <p:cNvSpPr txBox="1"/>
          <p:nvPr/>
        </p:nvSpPr>
        <p:spPr>
          <a:xfrm>
            <a:off x="657225" y="4333494"/>
            <a:ext cx="2035969"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Keep current database facts</a:t>
            </a:r>
          </a:p>
        </p:txBody>
      </p:sp>
      <p:sp>
        <p:nvSpPr>
          <p:cNvPr id="15" name="separate from preferences."/>
          <p:cNvSpPr txBox="1"/>
          <p:nvPr/>
        </p:nvSpPr>
        <p:spPr>
          <a:xfrm>
            <a:off x="657225" y="4600194"/>
            <a:ext cx="195500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separate from preferences.</a:t>
            </a:r>
          </a:p>
        </p:txBody>
      </p:sp>
      <p:sp>
        <p:nvSpPr>
          <p:cNvPr id="16" name="Rectangle 15"/>
          <p:cNvSpPr/>
          <p:nvPr/>
        </p:nvSpPr>
        <p:spPr>
          <a:xfrm>
            <a:off x="3333750" y="1619250"/>
            <a:ext cx="2571750" cy="1619250"/>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bedrock: original AWS SVG" descr="Unmodified icon from supplied AWS architecture icon deck, July 31, 202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24250" y="1790700"/>
            <a:ext cx="762000" cy="762000"/>
          </a:xfrm>
          <a:prstGeom prst="rect">
            <a:avLst/>
          </a:prstGeom>
        </p:spPr>
      </p:pic>
      <p:sp>
        <p:nvSpPr>
          <p:cNvPr id="18" name="Amazon Bedrock"/>
          <p:cNvSpPr txBox="1"/>
          <p:nvPr/>
        </p:nvSpPr>
        <p:spPr>
          <a:xfrm>
            <a:off x="4438650" y="1885569"/>
            <a:ext cx="1362075"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Amazon Bedrock</a:t>
            </a:r>
          </a:p>
        </p:txBody>
      </p:sp>
      <p:sp>
        <p:nvSpPr>
          <p:cNvPr id="19" name="Cohere Embed"/>
          <p:cNvSpPr txBox="1"/>
          <p:nvPr/>
        </p:nvSpPr>
        <p:spPr>
          <a:xfrm>
            <a:off x="3562350" y="2657094"/>
            <a:ext cx="1145381"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Cohere Embed</a:t>
            </a:r>
          </a:p>
        </p:txBody>
      </p:sp>
      <p:sp>
        <p:nvSpPr>
          <p:cNvPr id="20" name="Same model and dimensions"/>
          <p:cNvSpPr txBox="1"/>
          <p:nvPr/>
        </p:nvSpPr>
        <p:spPr>
          <a:xfrm>
            <a:off x="3562350" y="2876169"/>
            <a:ext cx="2090738"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Same model and dimensions</a:t>
            </a:r>
          </a:p>
        </p:txBody>
      </p:sp>
      <p:sp>
        <p:nvSpPr>
          <p:cNvPr id="21" name="Rectangle 20"/>
          <p:cNvSpPr/>
          <p:nvPr/>
        </p:nvSpPr>
        <p:spPr>
          <a:xfrm>
            <a:off x="6591300" y="3429000"/>
            <a:ext cx="2714625" cy="132397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ostgreSQL full-text search"/>
          <p:cNvSpPr txBox="1"/>
          <p:nvPr/>
        </p:nvSpPr>
        <p:spPr>
          <a:xfrm>
            <a:off x="6791325" y="3629787"/>
            <a:ext cx="2371688" cy="265748"/>
          </a:xfrm>
          <a:prstGeom prst="rect">
            <a:avLst/>
          </a:prstGeom>
          <a:noFill/>
        </p:spPr>
        <p:txBody>
          <a:bodyPr wrap="none" lIns="0" rIns="0" tIns="0" bIns="0">
            <a:spAutoFit/>
          </a:bodyPr>
          <a:lstStyle/>
          <a:p>
            <a:pPr>
              <a:lnSpc>
                <a:spcPct val="100000"/>
              </a:lnSpc>
              <a:spcBef>
                <a:spcPts val="0"/>
              </a:spcBef>
              <a:spcAft>
                <a:spcPts val="0"/>
              </a:spcAft>
            </a:pPr>
            <a:r>
              <a:rPr sz="1350" b="1">
                <a:solidFill>
                  <a:srgbClr val="F3F5F8"/>
                </a:solidFill>
                <a:latin typeface="Arial"/>
              </a:rPr>
              <a:t>PostgreSQL full-text search</a:t>
            </a:r>
          </a:p>
        </p:txBody>
      </p:sp>
      <p:sp>
        <p:nvSpPr>
          <p:cNvPr id="23" name="Terms, lexemes, lexical rank"/>
          <p:cNvSpPr txBox="1"/>
          <p:nvPr/>
        </p:nvSpPr>
        <p:spPr>
          <a:xfrm>
            <a:off x="6791325" y="3981069"/>
            <a:ext cx="204999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Terms, lexemes, lexical rank</a:t>
            </a:r>
          </a:p>
        </p:txBody>
      </p:sp>
      <p:sp>
        <p:nvSpPr>
          <p:cNvPr id="24" name="Strong for exact product language"/>
          <p:cNvSpPr txBox="1"/>
          <p:nvPr/>
        </p:nvSpPr>
        <p:spPr>
          <a:xfrm>
            <a:off x="6791325" y="4285869"/>
            <a:ext cx="242887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Strong for exact product language</a:t>
            </a:r>
          </a:p>
        </p:txBody>
      </p:sp>
      <p:sp>
        <p:nvSpPr>
          <p:cNvPr id="25" name="Rectangle 24"/>
          <p:cNvSpPr/>
          <p:nvPr/>
        </p:nvSpPr>
        <p:spPr>
          <a:xfrm>
            <a:off x="9858375" y="3429000"/>
            <a:ext cx="2790825" cy="132397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gvector semantic search"/>
          <p:cNvSpPr txBox="1"/>
          <p:nvPr/>
        </p:nvSpPr>
        <p:spPr>
          <a:xfrm>
            <a:off x="10058400" y="3629787"/>
            <a:ext cx="2228850" cy="265748"/>
          </a:xfrm>
          <a:prstGeom prst="rect">
            <a:avLst/>
          </a:prstGeom>
          <a:noFill/>
        </p:spPr>
        <p:txBody>
          <a:bodyPr wrap="none" lIns="0" rIns="0" tIns="0" bIns="0">
            <a:spAutoFit/>
          </a:bodyPr>
          <a:lstStyle/>
          <a:p>
            <a:pPr>
              <a:lnSpc>
                <a:spcPct val="100000"/>
              </a:lnSpc>
              <a:spcBef>
                <a:spcPts val="0"/>
              </a:spcBef>
              <a:spcAft>
                <a:spcPts val="0"/>
              </a:spcAft>
            </a:pPr>
            <a:r>
              <a:rPr sz="1350" b="1">
                <a:solidFill>
                  <a:srgbClr val="F3F5F8"/>
                </a:solidFill>
                <a:latin typeface="Arial"/>
              </a:rPr>
              <a:t>pgvector semantic search</a:t>
            </a:r>
          </a:p>
        </p:txBody>
      </p:sp>
      <p:sp>
        <p:nvSpPr>
          <p:cNvPr id="27" name="Embedding distance and HNSW"/>
          <p:cNvSpPr txBox="1"/>
          <p:nvPr/>
        </p:nvSpPr>
        <p:spPr>
          <a:xfrm>
            <a:off x="10058400" y="3981069"/>
            <a:ext cx="2312194"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Embedding distance and HNSW</a:t>
            </a:r>
          </a:p>
        </p:txBody>
      </p:sp>
      <p:sp>
        <p:nvSpPr>
          <p:cNvPr id="28" name="Strong for meaning and similarity"/>
          <p:cNvSpPr txBox="1"/>
          <p:nvPr/>
        </p:nvSpPr>
        <p:spPr>
          <a:xfrm>
            <a:off x="10058400" y="4285869"/>
            <a:ext cx="235267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Strong for meaning and similarity</a:t>
            </a:r>
          </a:p>
        </p:txBody>
      </p:sp>
      <p:sp>
        <p:nvSpPr>
          <p:cNvPr id="29" name="Rectangle 28"/>
          <p:cNvSpPr/>
          <p:nvPr/>
        </p:nvSpPr>
        <p:spPr>
          <a:xfrm>
            <a:off x="8001000" y="5305425"/>
            <a:ext cx="3238500" cy="94297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iprocal rank fusion (RRF)"/>
          <p:cNvSpPr txBox="1"/>
          <p:nvPr/>
        </p:nvSpPr>
        <p:spPr>
          <a:xfrm>
            <a:off x="8191500" y="5449062"/>
            <a:ext cx="2476500" cy="265748"/>
          </a:xfrm>
          <a:prstGeom prst="rect">
            <a:avLst/>
          </a:prstGeom>
          <a:noFill/>
        </p:spPr>
        <p:txBody>
          <a:bodyPr wrap="none" lIns="0" rIns="0" tIns="0" bIns="0">
            <a:spAutoFit/>
          </a:bodyPr>
          <a:lstStyle/>
          <a:p>
            <a:pPr>
              <a:lnSpc>
                <a:spcPct val="100000"/>
              </a:lnSpc>
              <a:spcBef>
                <a:spcPts val="0"/>
              </a:spcBef>
              <a:spcAft>
                <a:spcPts val="0"/>
              </a:spcAft>
            </a:pPr>
            <a:r>
              <a:rPr sz="1350" b="1">
                <a:solidFill>
                  <a:srgbClr val="F3F5F8"/>
                </a:solidFill>
                <a:latin typeface="Arial"/>
              </a:rPr>
              <a:t>Reciprocal rank fusion (RRF)</a:t>
            </a:r>
          </a:p>
        </p:txBody>
      </p:sp>
      <p:sp>
        <p:nvSpPr>
          <p:cNvPr id="31" name="Merge ranks into a bounded candidate pool"/>
          <p:cNvSpPr txBox="1"/>
          <p:nvPr/>
        </p:nvSpPr>
        <p:spPr>
          <a:xfrm>
            <a:off x="8191500" y="5809869"/>
            <a:ext cx="3069431"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Merge ranks into a bounded candidate pool</a:t>
            </a:r>
          </a:p>
        </p:txBody>
      </p:sp>
      <p:sp>
        <p:nvSpPr>
          <p:cNvPr id="32" name="Rectangle 31"/>
          <p:cNvSpPr/>
          <p:nvPr/>
        </p:nvSpPr>
        <p:spPr>
          <a:xfrm>
            <a:off x="13525500" y="4762500"/>
            <a:ext cx="3105150" cy="1628775"/>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bedrock: original AWS SVG" descr="Unmodified icon from supplied AWS architecture icon deck, July 31, 202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716000" y="4933950"/>
            <a:ext cx="762000" cy="762000"/>
          </a:xfrm>
          <a:prstGeom prst="rect">
            <a:avLst/>
          </a:prstGeom>
        </p:spPr>
      </p:pic>
      <p:sp>
        <p:nvSpPr>
          <p:cNvPr id="34" name="Amazon Bedrock"/>
          <p:cNvSpPr txBox="1"/>
          <p:nvPr/>
        </p:nvSpPr>
        <p:spPr>
          <a:xfrm>
            <a:off x="14630400" y="5028819"/>
            <a:ext cx="1362075" cy="236220"/>
          </a:xfrm>
          <a:prstGeom prst="rect">
            <a:avLst/>
          </a:prstGeom>
          <a:noFill/>
        </p:spPr>
        <p:txBody>
          <a:bodyPr wrap="none" lIns="0" rIns="0" tIns="0" bIns="0">
            <a:spAutoFit/>
          </a:bodyPr>
          <a:lstStyle/>
          <a:p>
            <a:pPr>
              <a:lnSpc>
                <a:spcPct val="100000"/>
              </a:lnSpc>
              <a:spcBef>
                <a:spcPts val="0"/>
              </a:spcBef>
              <a:spcAft>
                <a:spcPts val="0"/>
              </a:spcAft>
            </a:pPr>
            <a:r>
              <a:rPr sz="1200" b="1">
                <a:solidFill>
                  <a:srgbClr val="F3F5F8"/>
                </a:solidFill>
                <a:latin typeface="Arial"/>
              </a:rPr>
              <a:t>Amazon Bedrock</a:t>
            </a:r>
          </a:p>
        </p:txBody>
      </p:sp>
      <p:sp>
        <p:nvSpPr>
          <p:cNvPr id="35" name="Cohere Rerank"/>
          <p:cNvSpPr txBox="1"/>
          <p:nvPr/>
        </p:nvSpPr>
        <p:spPr>
          <a:xfrm>
            <a:off x="13754100" y="5800344"/>
            <a:ext cx="115252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Cohere Rerank</a:t>
            </a:r>
          </a:p>
        </p:txBody>
      </p:sp>
      <p:sp>
        <p:nvSpPr>
          <p:cNvPr id="36" name="Reorder only the supplied candidates"/>
          <p:cNvSpPr txBox="1"/>
          <p:nvPr/>
        </p:nvSpPr>
        <p:spPr>
          <a:xfrm>
            <a:off x="13754100" y="6019419"/>
            <a:ext cx="2647950"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Reorder only the supplied candidates</a:t>
            </a:r>
          </a:p>
        </p:txBody>
      </p:sp>
      <p:sp>
        <p:nvSpPr>
          <p:cNvPr id="37" name="Rectangle 36"/>
          <p:cNvSpPr/>
          <p:nvPr/>
        </p:nvSpPr>
        <p:spPr>
          <a:xfrm>
            <a:off x="13525500" y="7334250"/>
            <a:ext cx="3105150" cy="1504950"/>
          </a:xfrm>
          <a:prstGeom prst="rect">
            <a:avLst/>
          </a:prstGeom>
          <a:solidFill>
            <a:srgbClr val="1D2939"/>
          </a:solidFill>
          <a:ln w="11429">
            <a:solidFill>
              <a:srgbClr val="4B5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pecialist response"/>
          <p:cNvSpPr txBox="1"/>
          <p:nvPr/>
        </p:nvSpPr>
        <p:spPr>
          <a:xfrm>
            <a:off x="13716000" y="7488555"/>
            <a:ext cx="1912144"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Specialist response</a:t>
            </a:r>
          </a:p>
        </p:txBody>
      </p:sp>
      <p:sp>
        <p:nvSpPr>
          <p:cNvPr id="39" name="Ground the answer in returned products."/>
          <p:cNvSpPr txBox="1"/>
          <p:nvPr/>
        </p:nvSpPr>
        <p:spPr>
          <a:xfrm>
            <a:off x="13716000" y="7895844"/>
            <a:ext cx="2869406"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Ground the answer in returned products.</a:t>
            </a:r>
          </a:p>
        </p:txBody>
      </p:sp>
      <p:sp>
        <p:nvSpPr>
          <p:cNvPr id="40" name="Keep product IDs and source evidence."/>
          <p:cNvSpPr txBox="1"/>
          <p:nvPr/>
        </p:nvSpPr>
        <p:spPr>
          <a:xfrm>
            <a:off x="13716000" y="8181594"/>
            <a:ext cx="2802731"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Keep product IDs and source evidence.</a:t>
            </a:r>
          </a:p>
        </p:txBody>
      </p:sp>
      <p:sp>
        <p:nvSpPr>
          <p:cNvPr id="41" name="Expose the matching turn in Observatory."/>
          <p:cNvSpPr txBox="1"/>
          <p:nvPr/>
        </p:nvSpPr>
        <p:spPr>
          <a:xfrm>
            <a:off x="13716000" y="8467344"/>
            <a:ext cx="2935895"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Expose the matching turn in Observatory.</a:t>
            </a:r>
          </a:p>
        </p:txBody>
      </p:sp>
      <p:cxnSp>
        <p:nvCxnSpPr>
          <p:cNvPr id="42" name="Connector 41"/>
          <p:cNvCxnSpPr/>
          <p:nvPr/>
        </p:nvCxnSpPr>
        <p:spPr>
          <a:xfrm>
            <a:off x="2838450" y="4248150"/>
            <a:ext cx="3752850"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3781425" y="3981450"/>
            <a:ext cx="204787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Query terms + constraints"/>
          <p:cNvSpPr txBox="1"/>
          <p:nvPr/>
        </p:nvSpPr>
        <p:spPr>
          <a:xfrm>
            <a:off x="3829050" y="3999548"/>
            <a:ext cx="1752600"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Query terms + constraints</a:t>
            </a:r>
          </a:p>
        </p:txBody>
      </p:sp>
      <p:cxnSp>
        <p:nvCxnSpPr>
          <p:cNvPr id="45" name="Connector 44"/>
          <p:cNvCxnSpPr/>
          <p:nvPr/>
        </p:nvCxnSpPr>
        <p:spPr>
          <a:xfrm>
            <a:off x="2838450" y="3733800"/>
            <a:ext cx="266700" cy="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105150" y="2400300"/>
            <a:ext cx="0" cy="133350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105150" y="2400300"/>
            <a:ext cx="228600"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0" y="2400300"/>
            <a:ext cx="5343525" cy="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249025" y="2400300"/>
            <a:ext cx="0" cy="102870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9858375" y="2438400"/>
            <a:ext cx="1032510"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Query vector"/>
          <p:cNvSpPr txBox="1"/>
          <p:nvPr/>
        </p:nvSpPr>
        <p:spPr>
          <a:xfrm>
            <a:off x="9906000" y="2456498"/>
            <a:ext cx="931069"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Query vector</a:t>
            </a:r>
          </a:p>
        </p:txBody>
      </p:sp>
      <p:cxnSp>
        <p:nvCxnSpPr>
          <p:cNvPr id="52" name="Connector 51"/>
          <p:cNvCxnSpPr/>
          <p:nvPr/>
        </p:nvCxnSpPr>
        <p:spPr>
          <a:xfrm>
            <a:off x="7953375" y="4752975"/>
            <a:ext cx="0" cy="314325"/>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953375" y="5067300"/>
            <a:ext cx="1647825" cy="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601200" y="5067300"/>
            <a:ext cx="0" cy="238125"/>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249025" y="4752975"/>
            <a:ext cx="0" cy="314325"/>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9601200" y="5067300"/>
            <a:ext cx="1647825" cy="0"/>
          </a:xfrm>
          <a:prstGeom prst="line">
            <a:avLst/>
          </a:prstGeom>
          <a:ln w="17145">
            <a:solidFill>
              <a:srgbClr val="D1D9E4"/>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1239500" y="5762625"/>
            <a:ext cx="2286000" cy="0"/>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11591925" y="5467350"/>
            <a:ext cx="1579245"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andidate documents"/>
          <p:cNvSpPr txBox="1"/>
          <p:nvPr/>
        </p:nvSpPr>
        <p:spPr>
          <a:xfrm>
            <a:off x="11639550" y="5485448"/>
            <a:ext cx="1495425"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Candidate documents</a:t>
            </a:r>
          </a:p>
        </p:txBody>
      </p:sp>
      <p:cxnSp>
        <p:nvCxnSpPr>
          <p:cNvPr id="60" name="Connector 59"/>
          <p:cNvCxnSpPr/>
          <p:nvPr/>
        </p:nvCxnSpPr>
        <p:spPr>
          <a:xfrm>
            <a:off x="15078075" y="6391275"/>
            <a:ext cx="0" cy="942975"/>
          </a:xfrm>
          <a:prstGeom prst="line">
            <a:avLst/>
          </a:prstGeom>
          <a:ln w="17145">
            <a:solidFill>
              <a:srgbClr val="D1D9E4"/>
            </a:solidFill>
            <a:tailEnd type="arrow" w="med" len="med"/>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5125700" y="6791325"/>
            <a:ext cx="1188720" cy="20955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anked results"/>
          <p:cNvSpPr txBox="1"/>
          <p:nvPr/>
        </p:nvSpPr>
        <p:spPr>
          <a:xfrm>
            <a:off x="15173325" y="6809422"/>
            <a:ext cx="1062038" cy="221456"/>
          </a:xfrm>
          <a:prstGeom prst="rect">
            <a:avLst/>
          </a:prstGeom>
          <a:noFill/>
        </p:spPr>
        <p:txBody>
          <a:bodyPr wrap="none" lIns="0" rIns="0" tIns="0" bIns="0">
            <a:spAutoFit/>
          </a:bodyPr>
          <a:lstStyle/>
          <a:p>
            <a:pPr>
              <a:lnSpc>
                <a:spcPct val="100000"/>
              </a:lnSpc>
              <a:spcBef>
                <a:spcPts val="0"/>
              </a:spcBef>
              <a:spcAft>
                <a:spcPts val="0"/>
              </a:spcAft>
            </a:pPr>
            <a:r>
              <a:rPr sz="1125" b="0">
                <a:solidFill>
                  <a:srgbClr val="B5C2D3"/>
                </a:solidFill>
                <a:latin typeface="Arial"/>
              </a:rPr>
              <a:t>Ranked results</a:t>
            </a:r>
          </a:p>
        </p:txBody>
      </p:sp>
      <p:sp>
        <p:nvSpPr>
          <p:cNvPr id="63" name="What participants inspect"/>
          <p:cNvSpPr txBox="1"/>
          <p:nvPr/>
        </p:nvSpPr>
        <p:spPr>
          <a:xfrm>
            <a:off x="457200" y="7308723"/>
            <a:ext cx="2659856" cy="324802"/>
          </a:xfrm>
          <a:prstGeom prst="rect">
            <a:avLst/>
          </a:prstGeom>
          <a:noFill/>
        </p:spPr>
        <p:txBody>
          <a:bodyPr wrap="none" lIns="0" rIns="0" tIns="0" bIns="0">
            <a:spAutoFit/>
          </a:bodyPr>
          <a:lstStyle/>
          <a:p>
            <a:pPr>
              <a:lnSpc>
                <a:spcPct val="100000"/>
              </a:lnSpc>
              <a:spcBef>
                <a:spcPts val="0"/>
              </a:spcBef>
              <a:spcAft>
                <a:spcPts val="0"/>
              </a:spcAft>
            </a:pPr>
            <a:r>
              <a:rPr sz="1650" b="1">
                <a:solidFill>
                  <a:srgbClr val="F3F5F8"/>
                </a:solidFill>
                <a:latin typeface="Arial"/>
              </a:rPr>
              <a:t>What participants inspect</a:t>
            </a:r>
          </a:p>
        </p:txBody>
      </p:sp>
      <p:sp>
        <p:nvSpPr>
          <p:cNvPr id="64" name="Candidates"/>
          <p:cNvSpPr txBox="1"/>
          <p:nvPr/>
        </p:nvSpPr>
        <p:spPr>
          <a:xfrm>
            <a:off x="457200" y="7802880"/>
            <a:ext cx="1147762"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Candidates</a:t>
            </a:r>
          </a:p>
        </p:txBody>
      </p:sp>
      <p:sp>
        <p:nvSpPr>
          <p:cNvPr id="65" name="Compare lexical, vector, and fused IDs."/>
          <p:cNvSpPr txBox="1"/>
          <p:nvPr/>
        </p:nvSpPr>
        <p:spPr>
          <a:xfrm>
            <a:off x="457200" y="8134540"/>
            <a:ext cx="2950220" cy="250984"/>
          </a:xfrm>
          <a:prstGeom prst="rect">
            <a:avLst/>
          </a:prstGeom>
          <a:noFill/>
        </p:spPr>
        <p:txBody>
          <a:bodyPr wrap="none" lIns="0" rIns="0" tIns="0" bIns="0">
            <a:spAutoFit/>
          </a:bodyPr>
          <a:lstStyle/>
          <a:p>
            <a:pPr>
              <a:lnSpc>
                <a:spcPct val="100000"/>
              </a:lnSpc>
              <a:spcBef>
                <a:spcPts val="0"/>
              </a:spcBef>
              <a:spcAft>
                <a:spcPts val="0"/>
              </a:spcAft>
            </a:pPr>
            <a:r>
              <a:rPr sz="1275" b="0">
                <a:solidFill>
                  <a:srgbClr val="B5C2D3"/>
                </a:solidFill>
                <a:latin typeface="Arial"/>
              </a:rPr>
              <a:t>Compare lexical, vector, and fused IDs.</a:t>
            </a:r>
          </a:p>
        </p:txBody>
      </p:sp>
      <p:sp>
        <p:nvSpPr>
          <p:cNvPr id="66" name="Find where an eligible item disappeared."/>
          <p:cNvSpPr txBox="1"/>
          <p:nvPr/>
        </p:nvSpPr>
        <p:spPr>
          <a:xfrm>
            <a:off x="457200" y="8420290"/>
            <a:ext cx="3033712" cy="250984"/>
          </a:xfrm>
          <a:prstGeom prst="rect">
            <a:avLst/>
          </a:prstGeom>
          <a:noFill/>
        </p:spPr>
        <p:txBody>
          <a:bodyPr wrap="none" lIns="0" rIns="0" tIns="0" bIns="0">
            <a:spAutoFit/>
          </a:bodyPr>
          <a:lstStyle/>
          <a:p>
            <a:pPr>
              <a:lnSpc>
                <a:spcPct val="100000"/>
              </a:lnSpc>
              <a:spcBef>
                <a:spcPts val="0"/>
              </a:spcBef>
              <a:spcAft>
                <a:spcPts val="0"/>
              </a:spcAft>
            </a:pPr>
            <a:r>
              <a:rPr sz="1275" b="0">
                <a:solidFill>
                  <a:srgbClr val="B5C2D3"/>
                </a:solidFill>
                <a:latin typeface="Arial"/>
              </a:rPr>
              <a:t>Find where an eligible item disappeared.</a:t>
            </a:r>
          </a:p>
        </p:txBody>
      </p:sp>
      <p:sp>
        <p:nvSpPr>
          <p:cNvPr id="67" name="Query plan"/>
          <p:cNvSpPr txBox="1"/>
          <p:nvPr/>
        </p:nvSpPr>
        <p:spPr>
          <a:xfrm>
            <a:off x="4695825" y="7802880"/>
            <a:ext cx="1112044"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Query plan</a:t>
            </a:r>
          </a:p>
        </p:txBody>
      </p:sp>
      <p:sp>
        <p:nvSpPr>
          <p:cNvPr id="68" name="Run EXPLAIN (ANALYZE, BUFFERS)."/>
          <p:cNvSpPr txBox="1"/>
          <p:nvPr/>
        </p:nvSpPr>
        <p:spPr>
          <a:xfrm>
            <a:off x="4695825" y="8134540"/>
            <a:ext cx="2919226" cy="250984"/>
          </a:xfrm>
          <a:prstGeom prst="rect">
            <a:avLst/>
          </a:prstGeom>
          <a:noFill/>
        </p:spPr>
        <p:txBody>
          <a:bodyPr wrap="none" lIns="0" rIns="0" tIns="0" bIns="0">
            <a:spAutoFit/>
          </a:bodyPr>
          <a:lstStyle/>
          <a:p>
            <a:pPr>
              <a:lnSpc>
                <a:spcPct val="100000"/>
              </a:lnSpc>
              <a:spcBef>
                <a:spcPts val="0"/>
              </a:spcBef>
              <a:spcAft>
                <a:spcPts val="0"/>
              </a:spcAft>
            </a:pPr>
            <a:r>
              <a:rPr sz="1275" b="0">
                <a:solidFill>
                  <a:srgbClr val="B5C2D3"/>
                </a:solidFill>
                <a:latin typeface="Arial"/>
              </a:rPr>
              <a:t>Run EXPLAIN (ANALYZE, BUFFERS).</a:t>
            </a:r>
          </a:p>
        </p:txBody>
      </p:sp>
      <p:sp>
        <p:nvSpPr>
          <p:cNvPr id="69" name="Inspect filtering, index use, and buffers."/>
          <p:cNvSpPr txBox="1"/>
          <p:nvPr/>
        </p:nvSpPr>
        <p:spPr>
          <a:xfrm>
            <a:off x="4695825" y="8420290"/>
            <a:ext cx="2943188" cy="250984"/>
          </a:xfrm>
          <a:prstGeom prst="rect">
            <a:avLst/>
          </a:prstGeom>
          <a:noFill/>
        </p:spPr>
        <p:txBody>
          <a:bodyPr wrap="none" lIns="0" rIns="0" tIns="0" bIns="0">
            <a:spAutoFit/>
          </a:bodyPr>
          <a:lstStyle/>
          <a:p>
            <a:pPr>
              <a:lnSpc>
                <a:spcPct val="100000"/>
              </a:lnSpc>
              <a:spcBef>
                <a:spcPts val="0"/>
              </a:spcBef>
              <a:spcAft>
                <a:spcPts val="0"/>
              </a:spcAft>
            </a:pPr>
            <a:r>
              <a:rPr sz="1275" b="0">
                <a:solidFill>
                  <a:srgbClr val="B5C2D3"/>
                </a:solidFill>
                <a:latin typeface="Arial"/>
              </a:rPr>
              <a:t>Inspect filtering, index use, and buffers.</a:t>
            </a:r>
          </a:p>
        </p:txBody>
      </p:sp>
      <p:sp>
        <p:nvSpPr>
          <p:cNvPr id="70" name="Ranking tradeoff"/>
          <p:cNvSpPr txBox="1"/>
          <p:nvPr/>
        </p:nvSpPr>
        <p:spPr>
          <a:xfrm>
            <a:off x="8934450" y="7802880"/>
            <a:ext cx="1635919" cy="295275"/>
          </a:xfrm>
          <a:prstGeom prst="rect">
            <a:avLst/>
          </a:prstGeom>
          <a:noFill/>
        </p:spPr>
        <p:txBody>
          <a:bodyPr wrap="none" lIns="0" rIns="0" tIns="0" bIns="0">
            <a:spAutoFit/>
          </a:bodyPr>
          <a:lstStyle/>
          <a:p>
            <a:pPr>
              <a:lnSpc>
                <a:spcPct val="100000"/>
              </a:lnSpc>
              <a:spcBef>
                <a:spcPts val="0"/>
              </a:spcBef>
              <a:spcAft>
                <a:spcPts val="0"/>
              </a:spcAft>
            </a:pPr>
            <a:r>
              <a:rPr sz="1500" b="1">
                <a:solidFill>
                  <a:srgbClr val="F3F5F8"/>
                </a:solidFill>
                <a:latin typeface="Arial"/>
              </a:rPr>
              <a:t>Ranking tradeoff</a:t>
            </a:r>
          </a:p>
        </p:txBody>
      </p:sp>
      <p:sp>
        <p:nvSpPr>
          <p:cNvPr id="71" name="Hold the request and constraints fixed."/>
          <p:cNvSpPr txBox="1"/>
          <p:nvPr/>
        </p:nvSpPr>
        <p:spPr>
          <a:xfrm>
            <a:off x="8934450" y="8134540"/>
            <a:ext cx="2888456" cy="250984"/>
          </a:xfrm>
          <a:prstGeom prst="rect">
            <a:avLst/>
          </a:prstGeom>
          <a:noFill/>
        </p:spPr>
        <p:txBody>
          <a:bodyPr wrap="none" lIns="0" rIns="0" tIns="0" bIns="0">
            <a:spAutoFit/>
          </a:bodyPr>
          <a:lstStyle/>
          <a:p>
            <a:pPr>
              <a:lnSpc>
                <a:spcPct val="100000"/>
              </a:lnSpc>
              <a:spcBef>
                <a:spcPts val="0"/>
              </a:spcBef>
              <a:spcAft>
                <a:spcPts val="0"/>
              </a:spcAft>
            </a:pPr>
            <a:r>
              <a:rPr sz="1275" b="0">
                <a:solidFill>
                  <a:srgbClr val="B5C2D3"/>
                </a:solidFill>
                <a:latin typeface="Arial"/>
              </a:rPr>
              <a:t>Hold the request and constraints fixed.</a:t>
            </a:r>
          </a:p>
        </p:txBody>
      </p:sp>
      <p:sp>
        <p:nvSpPr>
          <p:cNvPr id="72" name="Compare relevance, pool size, and latency."/>
          <p:cNvSpPr txBox="1"/>
          <p:nvPr/>
        </p:nvSpPr>
        <p:spPr>
          <a:xfrm>
            <a:off x="8934450" y="8420290"/>
            <a:ext cx="3231170" cy="250984"/>
          </a:xfrm>
          <a:prstGeom prst="rect">
            <a:avLst/>
          </a:prstGeom>
          <a:noFill/>
        </p:spPr>
        <p:txBody>
          <a:bodyPr wrap="none" lIns="0" rIns="0" tIns="0" bIns="0">
            <a:spAutoFit/>
          </a:bodyPr>
          <a:lstStyle/>
          <a:p>
            <a:pPr>
              <a:lnSpc>
                <a:spcPct val="100000"/>
              </a:lnSpc>
              <a:spcBef>
                <a:spcPts val="0"/>
              </a:spcBef>
              <a:spcAft>
                <a:spcPts val="0"/>
              </a:spcAft>
            </a:pPr>
            <a:r>
              <a:rPr sz="1275" b="0">
                <a:solidFill>
                  <a:srgbClr val="B5C2D3"/>
                </a:solidFill>
                <a:latin typeface="Arial"/>
              </a:rPr>
              <a:t>Compare relevance, pool size, and latency.</a:t>
            </a:r>
          </a:p>
        </p:txBody>
      </p:sp>
      <p:sp>
        <p:nvSpPr>
          <p:cNvPr id="73" name="A reranker cannot recover a product that never entered the candidate pool."/>
          <p:cNvSpPr txBox="1"/>
          <p:nvPr/>
        </p:nvSpPr>
        <p:spPr>
          <a:xfrm>
            <a:off x="457200" y="9452991"/>
            <a:ext cx="8255645" cy="354330"/>
          </a:xfrm>
          <a:prstGeom prst="rect">
            <a:avLst/>
          </a:prstGeom>
          <a:noFill/>
        </p:spPr>
        <p:txBody>
          <a:bodyPr wrap="none" lIns="0" rIns="0" tIns="0" bIns="0">
            <a:spAutoFit/>
          </a:bodyPr>
          <a:lstStyle/>
          <a:p>
            <a:pPr>
              <a:lnSpc>
                <a:spcPct val="100000"/>
              </a:lnSpc>
              <a:spcBef>
                <a:spcPts val="0"/>
              </a:spcBef>
              <a:spcAft>
                <a:spcPts val="0"/>
              </a:spcAft>
            </a:pPr>
            <a:r>
              <a:rPr sz="1800" b="1">
                <a:solidFill>
                  <a:srgbClr val="F3F5F8"/>
                </a:solidFill>
                <a:latin typeface="Arial"/>
              </a:rPr>
              <a:t>A reranker cannot recover a product that never entered the candidate pool.</a:t>
            </a:r>
          </a:p>
        </p:txBody>
      </p:sp>
      <p:sp>
        <p:nvSpPr>
          <p:cNvPr id="74" name="Record the request, returned IDs, constraints, and query plan. Use supplied checks; participants do "/>
          <p:cNvSpPr txBox="1"/>
          <p:nvPr/>
        </p:nvSpPr>
        <p:spPr>
          <a:xfrm>
            <a:off x="457200" y="9858566"/>
            <a:ext cx="9775031" cy="250984"/>
          </a:xfrm>
          <a:prstGeom prst="rect">
            <a:avLst/>
          </a:prstGeom>
          <a:noFill/>
        </p:spPr>
        <p:txBody>
          <a:bodyPr wrap="none" lIns="0" rIns="0" tIns="0" bIns="0">
            <a:spAutoFit/>
          </a:bodyPr>
          <a:lstStyle/>
          <a:p>
            <a:pPr>
              <a:lnSpc>
                <a:spcPct val="100000"/>
              </a:lnSpc>
              <a:spcBef>
                <a:spcPts val="0"/>
              </a:spcBef>
              <a:spcAft>
                <a:spcPts val="0"/>
              </a:spcAft>
            </a:pPr>
            <a:r>
              <a:rPr sz="1275" b="0">
                <a:solidFill>
                  <a:srgbClr val="B5C2D3"/>
                </a:solidFill>
                <a:latin typeface="Arial"/>
              </a:rPr>
              <a:t>Record the request, returned IDs, constraints, and query plan. Use supplied checks; participants do not build an evaluation framework.</a:t>
            </a:r>
          </a:p>
        </p:txBody>
      </p:sp>
      <p:sp>
        <p:nvSpPr>
          <p:cNvPr id="75" name="Design decision: enforce eligibility before ranking, then inspect each stage independently."/>
          <p:cNvSpPr txBox="1"/>
          <p:nvPr/>
        </p:nvSpPr>
        <p:spPr>
          <a:xfrm>
            <a:off x="457200" y="10219944"/>
            <a:ext cx="6188683" cy="236220"/>
          </a:xfrm>
          <a:prstGeom prst="rect">
            <a:avLst/>
          </a:prstGeom>
          <a:noFill/>
        </p:spPr>
        <p:txBody>
          <a:bodyPr wrap="none" lIns="0" rIns="0" tIns="0" bIns="0">
            <a:spAutoFit/>
          </a:bodyPr>
          <a:lstStyle/>
          <a:p>
            <a:pPr>
              <a:lnSpc>
                <a:spcPct val="100000"/>
              </a:lnSpc>
              <a:spcBef>
                <a:spcPts val="0"/>
              </a:spcBef>
              <a:spcAft>
                <a:spcPts val="0"/>
              </a:spcAft>
            </a:pPr>
            <a:r>
              <a:rPr sz="1200" b="0">
                <a:solidFill>
                  <a:srgbClr val="B5C2D3"/>
                </a:solidFill>
                <a:latin typeface="Arial"/>
              </a:rPr>
              <a:t>Design decision: enforce eligibility before ranking, then inspect each stage independently.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Pellier governed search architecture</dc:title>
  <dc:subject>L400 workshop overview and hybrid retrieval detail</dc:subject>
  <dc:creator>Pellier workshop</dc:creator>
  <cp:keywords/>
  <dc:description>Original AWS SVG icons from AWS-Architecture-Icons-Deck_For-Dark-BG_07312026.pptx. Labels, boundaries, and connectors are editable. Logical architecture, not live deployment proof.</dc:description>
  <cp:lastModifiedBy>Steve Canny</cp:lastModifiedBy>
  <cp:revision>1</cp:revision>
  <dcterms:created xsi:type="dcterms:W3CDTF">2013-01-27T09:14:16Z</dcterms:created>
  <dcterms:modified xsi:type="dcterms:W3CDTF">2013-01-27T09:15:58Z</dcterms:modified>
  <cp:category/>
</cp:coreProperties>
</file>